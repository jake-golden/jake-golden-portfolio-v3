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3" r:id="rId4"/>
    <p:sldId id="259" r:id="rId5"/>
    <p:sldId id="260" r:id="rId6"/>
    <p:sldId id="261" r:id="rId7"/>
    <p:sldId id="262" r:id="rId8"/>
    <p:sldId id="264" r:id="rId9"/>
    <p:sldId id="266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F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3"/>
    <p:restoredTop sz="94593"/>
  </p:normalViewPr>
  <p:slideViewPr>
    <p:cSldViewPr snapToGrid="0">
      <p:cViewPr>
        <p:scale>
          <a:sx n="90" d="100"/>
          <a:sy n="90" d="100"/>
        </p:scale>
        <p:origin x="1248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A235F-D1D8-3547-B94E-9D31DDC8194E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74887-B1B6-5447-BE42-E7A05222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74887-B1B6-5447-BE42-E7A0522269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09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8782-6812-837F-6369-8B4C0EF3A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3AD18-35C2-E7D0-4AFC-83622E53E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2B5C9-1237-4759-C91E-2C2CE00DF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19A2D-CA78-6E0D-3A72-C0F00369D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0B2C8-8F9B-E463-6E5D-F0253B0E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3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F14D-ACC7-6D93-CA86-E08550C85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5FFC0-99A9-53C0-E7DF-1FA420747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E12B2-C7D7-DC8E-736F-B53B75DB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3B306-6879-3AF7-A044-F9C06832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320F7-4494-2461-6757-CB7A350C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4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D04C-BD34-53A5-C36E-51524D16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780F0-1570-3D72-6258-A437C20E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5B474-25AD-0270-B725-5FCAC6BD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95424-6394-C68B-C1F4-7D88F7EA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A5090-A178-6BBE-3DF8-4131C725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65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1A76-F09C-E1B2-A19B-AB6A64BA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0849C-6B52-2378-E1DB-2DF44F1B7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5F5DE-3933-F2D2-C8A8-39C18D712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F0A1E-A751-5EB9-FBCB-B2789A95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F6C5B-33DC-77B0-23D0-705FD6EF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04533-8C9E-9C75-048C-9ABEA8A9C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3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AF5E-7385-AE64-2280-0F299958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907A2-E878-D279-459A-ABF07370C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2FF86-595B-6531-AE5F-BEB1F2F81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5DEF81-0BF1-4513-A676-4788D20EE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00872-31EF-A14B-063D-F52DC6AC72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1A029-B772-E5AF-886D-A229B72B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5B348E-F662-6229-9981-BA1C0F59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4DE95-D1EC-E555-1F56-353BFFF7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90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B45C-65B4-3FB7-29E8-A635B627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18F250-A86D-C532-3015-0B166BD3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66363-AF98-33DA-DA5C-8C57A81E4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B1AD6-32E0-5B24-6962-AC6ECD52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3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084B9B-6AA7-888A-685C-82113D17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13EC2-EEAC-0DE6-01D8-27465FFF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7F423-B604-B2D2-9DDC-CB2F051A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2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4E62-3A7A-96D9-1DE6-84020780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80ABD-38DF-D188-CC97-F09C8CAA7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93FE5-37F6-78C7-0EA7-423000F99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9EE8D-BF24-5245-C6C6-983AC0E11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0C180-50BA-9CFF-7BFF-7C6D733D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A729F-0E8D-3EFC-FF2A-B626688A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2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A3BF-51CF-E24E-7755-962AA23D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1FAA65-D266-BAA0-43BA-D31B90512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98991-24A4-41BD-5ABD-2C4F3440A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6D004-E86C-7F62-E340-8A86B7F68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CA216-F623-B65A-D1F3-D1B16A79A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AE464-5193-2AD9-4430-C566ECB9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6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ED28-C9B8-15B9-6BEC-539BEBA1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1FC14-8030-7F78-2D5F-006DC5B5F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F133A-E232-191C-21CB-E3BC1959F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CD326-319F-BCEA-AC68-C3DE39EE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E7D64-183B-4BCD-EC1F-04D7DAF15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5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D04F4-C866-4A38-E922-1C4DB8F34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B1763-B86E-5B81-C847-85F81E7B7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C851-7162-9368-5F3C-CEA42CCF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04298-A02F-D710-2789-28DC1579C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B8ACA-25C2-4829-2E2D-EB7A8917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9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B34A1F-9CE4-61BA-E6A2-C07A5D25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9338C-E317-3616-6C47-CFE17EA02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EDFE7-1D76-AA83-2FF1-56022364CD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E2787-809E-9049-9C6F-D5528A76A6DA}" type="datetimeFigureOut">
              <a:rPr lang="en-US" smtClean="0"/>
              <a:t>5/9/26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37D36-C8FE-79BC-0F12-F3F3302B3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3451-ED42-7DFF-85E3-330EE5EBB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22D1C-5484-5645-9F23-8F325F6F38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0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250A-FC75-BA45-55EF-7FC29AD0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EC8EAD-645E-8F3F-0083-89560308C5A0}"/>
              </a:ext>
            </a:extLst>
          </p:cNvPr>
          <p:cNvSpPr/>
          <p:nvPr/>
        </p:nvSpPr>
        <p:spPr>
          <a:xfrm>
            <a:off x="115117" y="1742743"/>
            <a:ext cx="2209188" cy="43932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MATLAB</a:t>
            </a:r>
            <a:endParaRPr lang="en-US" sz="32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C1F046-AE61-EB8D-F15E-B25E547D630E}"/>
              </a:ext>
            </a:extLst>
          </p:cNvPr>
          <p:cNvSpPr/>
          <p:nvPr/>
        </p:nvSpPr>
        <p:spPr>
          <a:xfrm>
            <a:off x="3603611" y="1742743"/>
            <a:ext cx="2180174" cy="43932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Arduino</a:t>
            </a:r>
            <a:endParaRPr lang="en-US" sz="32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AA008B-81A8-E20E-03E6-B76C0AED47CA}"/>
              </a:ext>
            </a:extLst>
          </p:cNvPr>
          <p:cNvSpPr/>
          <p:nvPr/>
        </p:nvSpPr>
        <p:spPr>
          <a:xfrm>
            <a:off x="7200411" y="2143073"/>
            <a:ext cx="1341902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Nellcor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Probe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94740C-0AD8-EA18-6CE3-3F8CC71766E5}"/>
              </a:ext>
            </a:extLst>
          </p:cNvPr>
          <p:cNvSpPr/>
          <p:nvPr/>
        </p:nvSpPr>
        <p:spPr>
          <a:xfrm>
            <a:off x="9867695" y="2143074"/>
            <a:ext cx="2089437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Transimpedance Amplifier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58D5FF-1B68-FB56-4780-D8C5FAF3FC8B}"/>
              </a:ext>
            </a:extLst>
          </p:cNvPr>
          <p:cNvSpPr/>
          <p:nvPr/>
        </p:nvSpPr>
        <p:spPr>
          <a:xfrm>
            <a:off x="11909812" y="3584779"/>
            <a:ext cx="1436546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RC Low-Pass Filter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5A1A28-E280-C99B-6B7C-B464EABECC77}"/>
              </a:ext>
            </a:extLst>
          </p:cNvPr>
          <p:cNvSpPr/>
          <p:nvPr/>
        </p:nvSpPr>
        <p:spPr>
          <a:xfrm>
            <a:off x="9420775" y="4969355"/>
            <a:ext cx="1997820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RC High-Pass Filter + DC Bias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D37B85-1541-5656-FFCF-60474FDA3217}"/>
              </a:ext>
            </a:extLst>
          </p:cNvPr>
          <p:cNvSpPr/>
          <p:nvPr/>
        </p:nvSpPr>
        <p:spPr>
          <a:xfrm>
            <a:off x="7142809" y="4969355"/>
            <a:ext cx="926153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Active Gain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CFF26D-0719-DF5A-8366-A883B30D4543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783785" y="2497642"/>
            <a:ext cx="141662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AF709F-4DF0-0BCF-9405-7D96B20B73C7}"/>
              </a:ext>
            </a:extLst>
          </p:cNvPr>
          <p:cNvCxnSpPr>
            <a:cxnSpLocks/>
          </p:cNvCxnSpPr>
          <p:nvPr/>
        </p:nvCxnSpPr>
        <p:spPr>
          <a:xfrm>
            <a:off x="2324305" y="2497642"/>
            <a:ext cx="12877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10F0D3E-DADA-E04A-168E-0FF1B3B64D73}"/>
              </a:ext>
            </a:extLst>
          </p:cNvPr>
          <p:cNvSpPr txBox="1"/>
          <p:nvPr/>
        </p:nvSpPr>
        <p:spPr>
          <a:xfrm>
            <a:off x="2094851" y="1850686"/>
            <a:ext cx="16618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LED drive commands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1E9E71-2B29-E072-D9D3-C7961C225A2C}"/>
              </a:ext>
            </a:extLst>
          </p:cNvPr>
          <p:cNvSpPr txBox="1"/>
          <p:nvPr/>
        </p:nvSpPr>
        <p:spPr>
          <a:xfrm>
            <a:off x="5736414" y="1850685"/>
            <a:ext cx="1462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PWM LED drive voltage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9CBBDA1-8C17-E4B0-A729-7BF29AAD3A9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8550613" y="2497643"/>
            <a:ext cx="131708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437DEF9-F686-0E52-F5F7-B72486E7E0ED}"/>
              </a:ext>
            </a:extLst>
          </p:cNvPr>
          <p:cNvSpPr txBox="1"/>
          <p:nvPr/>
        </p:nvSpPr>
        <p:spPr>
          <a:xfrm>
            <a:off x="8523245" y="1851013"/>
            <a:ext cx="1341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Photodiode current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D22FDD9-3608-2579-E8D2-1729DFEE5898}"/>
              </a:ext>
            </a:extLst>
          </p:cNvPr>
          <p:cNvCxnSpPr>
            <a:cxnSpLocks/>
          </p:cNvCxnSpPr>
          <p:nvPr/>
        </p:nvCxnSpPr>
        <p:spPr>
          <a:xfrm>
            <a:off x="11957134" y="2497642"/>
            <a:ext cx="69841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4528A7-ECCE-ED03-556B-3748A00AD64D}"/>
              </a:ext>
            </a:extLst>
          </p:cNvPr>
          <p:cNvCxnSpPr>
            <a:cxnSpLocks/>
          </p:cNvCxnSpPr>
          <p:nvPr/>
        </p:nvCxnSpPr>
        <p:spPr>
          <a:xfrm>
            <a:off x="12628085" y="2497642"/>
            <a:ext cx="0" cy="108713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E01E5E1-2C52-BCCD-BCAB-E10BF8DFCB2A}"/>
              </a:ext>
            </a:extLst>
          </p:cNvPr>
          <p:cNvCxnSpPr>
            <a:cxnSpLocks/>
          </p:cNvCxnSpPr>
          <p:nvPr/>
        </p:nvCxnSpPr>
        <p:spPr>
          <a:xfrm>
            <a:off x="12628085" y="4309823"/>
            <a:ext cx="0" cy="1014099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FD5AB33-B0D3-A07A-64A9-BE6F4DA1CB07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11418595" y="5323924"/>
            <a:ext cx="123695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BB27756-9E4D-3ACB-8845-BE46364520C4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flipH="1">
            <a:off x="8068962" y="5323924"/>
            <a:ext cx="135181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B4FA6C4-5D9A-ACED-7BF2-9662950BCC5E}"/>
              </a:ext>
            </a:extLst>
          </p:cNvPr>
          <p:cNvCxnSpPr>
            <a:cxnSpLocks/>
            <a:stCxn id="18" idx="1"/>
            <a:endCxn id="114" idx="3"/>
          </p:cNvCxnSpPr>
          <p:nvPr/>
        </p:nvCxnSpPr>
        <p:spPr>
          <a:xfrm flipH="1" flipV="1">
            <a:off x="5783489" y="5323922"/>
            <a:ext cx="1359320" cy="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FF22636-61D6-D775-212A-53C528421651}"/>
              </a:ext>
            </a:extLst>
          </p:cNvPr>
          <p:cNvSpPr txBox="1"/>
          <p:nvPr/>
        </p:nvSpPr>
        <p:spPr>
          <a:xfrm>
            <a:off x="5790996" y="4686406"/>
            <a:ext cx="1354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Conditioned PPG voltage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D18D1ED-8225-0DA2-C5D2-5E0CFD14EBE6}"/>
              </a:ext>
            </a:extLst>
          </p:cNvPr>
          <p:cNvCxnSpPr>
            <a:cxnSpLocks/>
          </p:cNvCxnSpPr>
          <p:nvPr/>
        </p:nvCxnSpPr>
        <p:spPr>
          <a:xfrm flipH="1">
            <a:off x="2324305" y="5323922"/>
            <a:ext cx="1266431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08504C4-BB30-63B4-6F70-85AC7D7B6364}"/>
              </a:ext>
            </a:extLst>
          </p:cNvPr>
          <p:cNvSpPr txBox="1"/>
          <p:nvPr/>
        </p:nvSpPr>
        <p:spPr>
          <a:xfrm>
            <a:off x="2326634" y="4686406"/>
            <a:ext cx="13184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Digitalized PPG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A1708BB-137C-E33F-B3CC-4F7F29A81238}"/>
              </a:ext>
            </a:extLst>
          </p:cNvPr>
          <p:cNvCxnSpPr>
            <a:cxnSpLocks/>
          </p:cNvCxnSpPr>
          <p:nvPr/>
        </p:nvCxnSpPr>
        <p:spPr>
          <a:xfrm>
            <a:off x="7869874" y="1240971"/>
            <a:ext cx="0" cy="90210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1C6FED8-599B-7A2C-EE9E-F29EB15582B0}"/>
              </a:ext>
            </a:extLst>
          </p:cNvPr>
          <p:cNvSpPr txBox="1"/>
          <p:nvPr/>
        </p:nvSpPr>
        <p:spPr>
          <a:xfrm>
            <a:off x="7138599" y="649554"/>
            <a:ext cx="1462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Tissue optical path (finger)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FAEA583-E91D-E299-1EBB-742ACC1B07CD}"/>
              </a:ext>
            </a:extLst>
          </p:cNvPr>
          <p:cNvSpPr txBox="1"/>
          <p:nvPr/>
        </p:nvSpPr>
        <p:spPr>
          <a:xfrm>
            <a:off x="11302264" y="2893864"/>
            <a:ext cx="1341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Amplified PPG voltage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438DF73-74DF-EB89-7F77-194ACC36DE05}"/>
              </a:ext>
            </a:extLst>
          </p:cNvPr>
          <p:cNvSpPr txBox="1"/>
          <p:nvPr/>
        </p:nvSpPr>
        <p:spPr>
          <a:xfrm>
            <a:off x="11369168" y="4686406"/>
            <a:ext cx="1341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Trebuchet MS" panose="020B0703020202090204" pitchFamily="34" charset="0"/>
              </a:rPr>
              <a:t>LPF’d</a:t>
            </a:r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 PPG voltage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81A5108-84E1-8BE6-E900-1ACE76D97D23}"/>
              </a:ext>
            </a:extLst>
          </p:cNvPr>
          <p:cNvSpPr txBox="1"/>
          <p:nvPr/>
        </p:nvSpPr>
        <p:spPr>
          <a:xfrm>
            <a:off x="8081171" y="4440184"/>
            <a:ext cx="13477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latin typeface="Trebuchet MS" panose="020B0703020202090204" pitchFamily="34" charset="0"/>
              </a:rPr>
              <a:t>H</a:t>
            </a:r>
            <a:r>
              <a:rPr lang="en-US" sz="1600" dirty="0" err="1">
                <a:solidFill>
                  <a:schemeClr val="tx1"/>
                </a:solidFill>
                <a:latin typeface="Trebuchet MS" panose="020B0703020202090204" pitchFamily="34" charset="0"/>
              </a:rPr>
              <a:t>PF’d</a:t>
            </a:r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 +</a:t>
            </a:r>
            <a:r>
              <a:rPr lang="en-US" sz="1600" dirty="0">
                <a:latin typeface="Trebuchet MS" panose="020B0703020202090204" pitchFamily="34" charset="0"/>
              </a:rPr>
              <a:t> offset </a:t>
            </a:r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PPG voltage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42E0B0A-833B-02E4-4076-BFDD92A8DA5A}"/>
              </a:ext>
            </a:extLst>
          </p:cNvPr>
          <p:cNvSpPr txBox="1"/>
          <p:nvPr/>
        </p:nvSpPr>
        <p:spPr>
          <a:xfrm>
            <a:off x="915333" y="2218483"/>
            <a:ext cx="1409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USB Serial: Host Tx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1BDD52B-0F60-21D3-477F-9F53FD396AE2}"/>
              </a:ext>
            </a:extLst>
          </p:cNvPr>
          <p:cNvSpPr txBox="1"/>
          <p:nvPr/>
        </p:nvSpPr>
        <p:spPr>
          <a:xfrm>
            <a:off x="3610855" y="2218482"/>
            <a:ext cx="13408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rebuchet MS" panose="020B0703020202090204" pitchFamily="34" charset="0"/>
              </a:rPr>
              <a:t>USB Serial: Device R</a:t>
            </a:r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x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45BD948-20A6-14BC-D5D9-5235AC71A3C9}"/>
              </a:ext>
            </a:extLst>
          </p:cNvPr>
          <p:cNvSpPr txBox="1"/>
          <p:nvPr/>
        </p:nvSpPr>
        <p:spPr>
          <a:xfrm>
            <a:off x="5097065" y="2319033"/>
            <a:ext cx="6943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Trebuchet MS" panose="020B0703020202090204" pitchFamily="34" charset="0"/>
              </a:rPr>
              <a:t>PWM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3E25F5E-87CB-00F1-DFDF-C90022B5247B}"/>
              </a:ext>
            </a:extLst>
          </p:cNvPr>
          <p:cNvSpPr txBox="1"/>
          <p:nvPr/>
        </p:nvSpPr>
        <p:spPr>
          <a:xfrm>
            <a:off x="5165046" y="5154645"/>
            <a:ext cx="618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Trebuchet MS" panose="020B0703020202090204" pitchFamily="34" charset="0"/>
              </a:rPr>
              <a:t>ADC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62239BF-9743-F1EA-597D-6C93CF71CBBE}"/>
              </a:ext>
            </a:extLst>
          </p:cNvPr>
          <p:cNvSpPr txBox="1"/>
          <p:nvPr/>
        </p:nvSpPr>
        <p:spPr>
          <a:xfrm>
            <a:off x="3609821" y="5029222"/>
            <a:ext cx="13784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USB Serial: Device Tx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9C4F988-AE90-F54B-5947-5DC4772BF709}"/>
              </a:ext>
            </a:extLst>
          </p:cNvPr>
          <p:cNvSpPr txBox="1"/>
          <p:nvPr/>
        </p:nvSpPr>
        <p:spPr>
          <a:xfrm>
            <a:off x="1007825" y="5029222"/>
            <a:ext cx="13032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latin typeface="Trebuchet MS" panose="020B0703020202090204" pitchFamily="34" charset="0"/>
              </a:rPr>
              <a:t> USB Serial: Host R</a:t>
            </a:r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x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0C13CC-3BA0-16B9-BB7A-DB3BEC68F3E9}"/>
              </a:ext>
            </a:extLst>
          </p:cNvPr>
          <p:cNvSpPr>
            <a:spLocks noChangeAspect="1"/>
          </p:cNvSpPr>
          <p:nvPr/>
        </p:nvSpPr>
        <p:spPr>
          <a:xfrm>
            <a:off x="-770244" y="260343"/>
            <a:ext cx="14434289" cy="6337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3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3B0C-C386-3D05-3EE8-7EA30BBD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97AE7-9739-E16F-66D2-94BD7C654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332"/>
            <a:ext cx="10515600" cy="46426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Hardware Front-End</a:t>
            </a:r>
          </a:p>
          <a:p>
            <a:pPr lvl="1"/>
            <a:r>
              <a:rPr lang="en-US" dirty="0"/>
              <a:t>Schematic &amp; explanations</a:t>
            </a:r>
          </a:p>
          <a:p>
            <a:pPr lvl="1"/>
            <a:r>
              <a:rPr lang="en-US" dirty="0"/>
              <a:t>Filter and amplification calculations (cutoff frequencies, etc.)</a:t>
            </a:r>
          </a:p>
          <a:p>
            <a:pPr lvl="1"/>
            <a:r>
              <a:rPr lang="en-US" dirty="0"/>
              <a:t>Oscilloscope waveforms</a:t>
            </a:r>
          </a:p>
          <a:p>
            <a:r>
              <a:rPr lang="en-US" dirty="0"/>
              <a:t>MCU Acquisition &amp; Serial Protocol</a:t>
            </a:r>
          </a:p>
          <a:p>
            <a:pPr lvl="1"/>
            <a:r>
              <a:rPr lang="en-US" dirty="0"/>
              <a:t>LED drive command packets (MATLAB -&gt; Arduino) and decoding</a:t>
            </a:r>
          </a:p>
          <a:p>
            <a:pPr lvl="1"/>
            <a:r>
              <a:rPr lang="en-US" dirty="0"/>
              <a:t>PPG data packets (Arduino -&gt; MATLAB) and decoding</a:t>
            </a:r>
          </a:p>
          <a:p>
            <a:r>
              <a:rPr lang="en-US" dirty="0"/>
              <a:t>Digital Signal Processing</a:t>
            </a:r>
          </a:p>
          <a:p>
            <a:pPr lvl="1"/>
            <a:r>
              <a:rPr lang="en-US" dirty="0"/>
              <a:t>Butterworth filtering, DC baseline estimation, AC amplitude estimation, R calculation, SpO2 estimate</a:t>
            </a:r>
          </a:p>
          <a:p>
            <a:r>
              <a:rPr lang="en-US" dirty="0"/>
              <a:t>Graphical User Interface</a:t>
            </a:r>
          </a:p>
          <a:p>
            <a:pPr lvl="1"/>
            <a:r>
              <a:rPr lang="en-US" dirty="0"/>
              <a:t>Live data visualization, customizable parameters, DSP visualization, live R and SpO2 estimates, console</a:t>
            </a:r>
          </a:p>
        </p:txBody>
      </p:sp>
    </p:spTree>
    <p:extLst>
      <p:ext uri="{BB962C8B-B14F-4D97-AF65-F5344CB8AC3E}">
        <p14:creationId xmlns:p14="http://schemas.microsoft.com/office/powerpoint/2010/main" val="244577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3750-633F-DDE2-11BD-0C1E892BA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E253EE-BA8C-BF94-7035-80F0040846DD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DA270-A9DA-022C-6776-07521610FBE0}"/>
              </a:ext>
            </a:extLst>
          </p:cNvPr>
          <p:cNvSpPr txBox="1"/>
          <p:nvPr/>
        </p:nvSpPr>
        <p:spPr>
          <a:xfrm>
            <a:off x="756741" y="434221"/>
            <a:ext cx="1069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Complete Schematic</a:t>
            </a:r>
            <a:endParaRPr lang="en-US" sz="24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AEF597-C6E1-1871-0D1D-F24E701F9A27}"/>
              </a:ext>
            </a:extLst>
          </p:cNvPr>
          <p:cNvPicPr>
            <a:picLocks noChangeAspect="1"/>
          </p:cNvPicPr>
          <p:nvPr/>
        </p:nvPicPr>
        <p:blipFill>
          <a:blip/>
          <a:srcRect l="13173" t="21621" r="26817" b="33896"/>
          <a:stretch>
            <a:fillRect/>
          </a:stretch>
        </p:blipFill>
        <p:spPr>
          <a:xfrm>
            <a:off x="831273" y="769035"/>
            <a:ext cx="10603985" cy="555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9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B4A752-7A89-3EF0-4752-D8EEBE8CB668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FA1120-AD63-7677-BDF1-79EB657119FF}"/>
                  </a:ext>
                </a:extLst>
              </p:cNvPr>
              <p:cNvSpPr txBox="1"/>
              <p:nvPr/>
            </p:nvSpPr>
            <p:spPr>
              <a:xfrm>
                <a:off x="7209137" y="3013202"/>
                <a:ext cx="3623619" cy="819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2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4.70×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0">
                                  <a:latin typeface="Cambria Math" panose="02040503050406030204" pitchFamily="18" charset="0"/>
                                </a:rPr>
                                <m:t>1.27×</m:t>
                              </m:r>
                              <m:sSup>
                                <m:sSup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200" i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FA1120-AD63-7677-BDF1-79EB65711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137" y="3013202"/>
                <a:ext cx="3623619" cy="8195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8863C7-62CB-9B7A-7FD2-4BC32BDBC93B}"/>
                  </a:ext>
                </a:extLst>
              </p:cNvPr>
              <p:cNvSpPr txBox="1"/>
              <p:nvPr/>
            </p:nvSpPr>
            <p:spPr>
              <a:xfrm>
                <a:off x="7351239" y="4096065"/>
                <a:ext cx="333941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 panose="02040503050406030204" pitchFamily="18" charset="0"/>
                        </a:rPr>
                        <m:t>ain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=4.70×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200" i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200" i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type m:val="lin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8863C7-62CB-9B7A-7FD2-4BC32BDBC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239" y="4096065"/>
                <a:ext cx="3339413" cy="430887"/>
              </a:xfrm>
              <a:prstGeom prst="rect">
                <a:avLst/>
              </a:prstGeom>
              <a:blipFill>
                <a:blip r:embed="rId3"/>
                <a:stretch>
                  <a:fillRect t="-120000" b="-18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0EEF50-65E6-1B14-DC44-9D8A85302D8D}"/>
                  </a:ext>
                </a:extLst>
              </p:cNvPr>
              <p:cNvSpPr txBox="1"/>
              <p:nvPr/>
            </p:nvSpPr>
            <p:spPr>
              <a:xfrm>
                <a:off x="7497460" y="4597497"/>
                <a:ext cx="304697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smtClean="0">
                          <a:latin typeface="Cambria Math" panose="02040503050406030204" pitchFamily="18" charset="0"/>
                        </a:rPr>
                        <m:t>LPF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200" i="0">
                          <a:latin typeface="Cambria Math" panose="02040503050406030204" pitchFamily="18" charset="0"/>
                        </a:rPr>
                        <m:t>=135 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0EEF50-65E6-1B14-DC44-9D8A85302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460" y="4597497"/>
                <a:ext cx="3046970" cy="430887"/>
              </a:xfrm>
              <a:prstGeom prst="rect">
                <a:avLst/>
              </a:prstGeom>
              <a:blipFill>
                <a:blip r:embed="rId4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Graphic 19">
            <a:extLst>
              <a:ext uri="{FF2B5EF4-FFF2-40B4-BE49-F238E27FC236}">
                <a16:creationId xmlns:a16="http://schemas.microsoft.com/office/drawing/2014/main" id="{97B71A3E-6B30-942F-D15C-E971E329FC38}"/>
              </a:ext>
            </a:extLst>
          </p:cNvPr>
          <p:cNvPicPr>
            <a:picLocks noChangeAspect="1"/>
          </p:cNvPicPr>
          <p:nvPr/>
        </p:nvPicPr>
        <p:blipFill>
          <a:blip/>
          <a:srcRect l="21826" t="23814" r="54198" b="53503"/>
          <a:stretch>
            <a:fillRect/>
          </a:stretch>
        </p:blipFill>
        <p:spPr>
          <a:xfrm>
            <a:off x="837420" y="1286851"/>
            <a:ext cx="7398223" cy="49458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49460C5-01AE-ADD1-EB86-7E1D1228B48F}"/>
              </a:ext>
            </a:extLst>
          </p:cNvPr>
          <p:cNvSpPr txBox="1"/>
          <p:nvPr/>
        </p:nvSpPr>
        <p:spPr>
          <a:xfrm>
            <a:off x="756741" y="434221"/>
            <a:ext cx="1069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Transimpedance Amplifier + Light Low-Pass Filter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790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20249-0A67-65A8-6FED-6B74555E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C7A2C7-60B8-C36E-65EC-10C50FC0F875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EEF1D0-9B5A-531C-F37D-1E39E04446A3}"/>
                  </a:ext>
                </a:extLst>
              </p:cNvPr>
              <p:cNvSpPr txBox="1"/>
              <p:nvPr/>
            </p:nvSpPr>
            <p:spPr>
              <a:xfrm>
                <a:off x="7378017" y="2709399"/>
                <a:ext cx="3623619" cy="821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5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5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.0270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EEF1D0-9B5A-531C-F37D-1E39E0444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017" y="2709399"/>
                <a:ext cx="3623619" cy="821507"/>
              </a:xfrm>
              <a:prstGeom prst="rect">
                <a:avLst/>
              </a:prstGeom>
              <a:blipFill>
                <a:blip r:embed="rId2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DF9CD8-50E8-0A69-2213-B120DEB4DFF1}"/>
                  </a:ext>
                </a:extLst>
              </p:cNvPr>
              <p:cNvSpPr txBox="1"/>
              <p:nvPr/>
            </p:nvSpPr>
            <p:spPr>
              <a:xfrm>
                <a:off x="7666341" y="3805218"/>
                <a:ext cx="3046970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500" b="0" i="1" smtClean="0">
                          <a:latin typeface="Cambria Math" panose="02040503050406030204" pitchFamily="18" charset="0"/>
                        </a:rPr>
                        <m:t>LPF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5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5.89</m:t>
                      </m:r>
                      <m:r>
                        <a:rPr lang="en-US" sz="25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500" i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DF9CD8-50E8-0A69-2213-B120DEB4D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341" y="3805218"/>
                <a:ext cx="3046970" cy="477054"/>
              </a:xfrm>
              <a:prstGeom prst="rect">
                <a:avLst/>
              </a:prstGeom>
              <a:blipFill>
                <a:blip r:embed="rId3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>
            <a:extLst>
              <a:ext uri="{FF2B5EF4-FFF2-40B4-BE49-F238E27FC236}">
                <a16:creationId xmlns:a16="http://schemas.microsoft.com/office/drawing/2014/main" id="{A25D574F-7060-0E3A-3AF0-10107C355555}"/>
              </a:ext>
            </a:extLst>
          </p:cNvPr>
          <p:cNvPicPr>
            <a:picLocks noChangeAspect="1"/>
          </p:cNvPicPr>
          <p:nvPr/>
        </p:nvPicPr>
        <p:blipFill>
          <a:blip/>
          <a:srcRect l="20629" t="20310" r="65231" b="61653"/>
          <a:stretch>
            <a:fillRect/>
          </a:stretch>
        </p:blipFill>
        <p:spPr>
          <a:xfrm>
            <a:off x="1131656" y="967501"/>
            <a:ext cx="5794492" cy="52229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672222-0979-12A7-2AE6-AD1C4499442F}"/>
              </a:ext>
            </a:extLst>
          </p:cNvPr>
          <p:cNvSpPr txBox="1"/>
          <p:nvPr/>
        </p:nvSpPr>
        <p:spPr>
          <a:xfrm>
            <a:off x="756741" y="434221"/>
            <a:ext cx="1069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Passive Low-Pass Filter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8822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0DFB-56CD-4A40-FDC1-4F5FFB94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180500-C2CE-54EE-352A-28BD62A3A5C2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88C41A-B647-6E73-0D00-01DED54BFC50}"/>
                  </a:ext>
                </a:extLst>
              </p:cNvPr>
              <p:cNvSpPr txBox="1"/>
              <p:nvPr/>
            </p:nvSpPr>
            <p:spPr>
              <a:xfrm>
                <a:off x="7378016" y="2079899"/>
                <a:ext cx="3623619" cy="829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5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0.185</m:t>
                          </m:r>
                          <m:r>
                            <m:rPr>
                              <m:sty m:val="p"/>
                            </m:rP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>
                            <a:rPr lang="en-US" sz="25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.185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788C41A-B647-6E73-0D00-01DED54BF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016" y="2079899"/>
                <a:ext cx="3623619" cy="829330"/>
              </a:xfrm>
              <a:prstGeom prst="rect">
                <a:avLst/>
              </a:prstGeom>
              <a:blipFill>
                <a:blip r:embed="rId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0578B7-2945-A9C9-B77A-2E7048373819}"/>
                  </a:ext>
                </a:extLst>
              </p:cNvPr>
              <p:cNvSpPr txBox="1"/>
              <p:nvPr/>
            </p:nvSpPr>
            <p:spPr>
              <a:xfrm>
                <a:off x="7666340" y="3059808"/>
                <a:ext cx="3046970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5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sty m:val="p"/>
                        </m:rPr>
                        <a:rPr lang="en-US" sz="2500" b="0" i="1" smtClean="0">
                          <a:latin typeface="Cambria Math" panose="02040503050406030204" pitchFamily="18" charset="0"/>
                        </a:rPr>
                        <m:t>PF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5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0" i="0" smtClean="0">
                          <a:latin typeface="Cambria Math" panose="02040503050406030204" pitchFamily="18" charset="0"/>
                        </a:rPr>
                        <m:t>0.86</m:t>
                      </m:r>
                      <m:r>
                        <a:rPr lang="en-US" sz="25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500" i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0578B7-2945-A9C9-B77A-2E7048373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340" y="3059808"/>
                <a:ext cx="3046970" cy="477054"/>
              </a:xfrm>
              <a:prstGeom prst="rect">
                <a:avLst/>
              </a:prstGeom>
              <a:blipFill>
                <a:blip r:embed="rId3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>
            <a:extLst>
              <a:ext uri="{FF2B5EF4-FFF2-40B4-BE49-F238E27FC236}">
                <a16:creationId xmlns:a16="http://schemas.microsoft.com/office/drawing/2014/main" id="{72091893-90E7-42D1-77DC-F6BB4C2A2924}"/>
              </a:ext>
            </a:extLst>
          </p:cNvPr>
          <p:cNvPicPr>
            <a:picLocks noChangeAspect="1"/>
          </p:cNvPicPr>
          <p:nvPr/>
        </p:nvPicPr>
        <p:blipFill>
          <a:blip/>
          <a:srcRect l="28005" t="25471" r="58656" b="56285"/>
          <a:stretch>
            <a:fillRect/>
          </a:stretch>
        </p:blipFill>
        <p:spPr>
          <a:xfrm>
            <a:off x="1478690" y="1071729"/>
            <a:ext cx="5101141" cy="49302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D5B5C9-6554-84EB-A280-719B476DF730}"/>
              </a:ext>
            </a:extLst>
          </p:cNvPr>
          <p:cNvSpPr txBox="1"/>
          <p:nvPr/>
        </p:nvSpPr>
        <p:spPr>
          <a:xfrm>
            <a:off x="7027131" y="4490468"/>
            <a:ext cx="432539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latin typeface="Cambria" panose="02040503050406030204" pitchFamily="18" charset="0"/>
                <a:cs typeface="Times New Roman" panose="02020603050405020304" pitchFamily="18" charset="0"/>
              </a:rPr>
              <a:t>After filtering, the output will be centered around VBIAS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EC29D-58F1-EC14-643B-B097F4105F5A}"/>
              </a:ext>
            </a:extLst>
          </p:cNvPr>
          <p:cNvSpPr txBox="1"/>
          <p:nvPr/>
        </p:nvSpPr>
        <p:spPr>
          <a:xfrm>
            <a:off x="756741" y="434221"/>
            <a:ext cx="1069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Passive High-Pass Filter + DC Bias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6701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16A5F-B246-6391-C871-E3F543B37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D6CD05-F00D-6F05-EBA3-30E1139BD4D6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89FAFB-1A6A-6947-8A82-2988DB92873E}"/>
                  </a:ext>
                </a:extLst>
              </p:cNvPr>
              <p:cNvSpPr txBox="1"/>
              <p:nvPr/>
            </p:nvSpPr>
            <p:spPr>
              <a:xfrm>
                <a:off x="7378016" y="2957857"/>
                <a:ext cx="3623619" cy="734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20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31.3</m:t>
                          </m:r>
                        </m:num>
                        <m:den>
                          <m:r>
                            <a:rPr lang="en-US" sz="2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.0263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89FAFB-1A6A-6947-8A82-2988DB928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016" y="2957857"/>
                <a:ext cx="3623619" cy="734047"/>
              </a:xfrm>
              <a:prstGeom prst="rect">
                <a:avLst/>
              </a:prstGeom>
              <a:blipFill>
                <a:blip r:embed="rId2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>
            <a:extLst>
              <a:ext uri="{FF2B5EF4-FFF2-40B4-BE49-F238E27FC236}">
                <a16:creationId xmlns:a16="http://schemas.microsoft.com/office/drawing/2014/main" id="{25FF85CF-F34E-6ADF-DEA9-3E1167F46128}"/>
              </a:ext>
            </a:extLst>
          </p:cNvPr>
          <p:cNvPicPr>
            <a:picLocks noChangeAspect="1"/>
          </p:cNvPicPr>
          <p:nvPr/>
        </p:nvPicPr>
        <p:blipFill>
          <a:blip/>
          <a:srcRect l="16925" t="21160" r="60441" b="59090"/>
          <a:stretch>
            <a:fillRect/>
          </a:stretch>
        </p:blipFill>
        <p:spPr>
          <a:xfrm>
            <a:off x="956578" y="1394647"/>
            <a:ext cx="7230241" cy="44581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85200C-007E-E52E-CB1F-8F0971358DB0}"/>
                  </a:ext>
                </a:extLst>
              </p:cNvPr>
              <p:cNvSpPr txBox="1"/>
              <p:nvPr/>
            </p:nvSpPr>
            <p:spPr>
              <a:xfrm>
                <a:off x="7808441" y="3932815"/>
                <a:ext cx="333941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 panose="02040503050406030204" pitchFamily="18" charset="0"/>
                        </a:rPr>
                        <m:t>ain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31.3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285200C-007E-E52E-CB1F-8F0971358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441" y="3932815"/>
                <a:ext cx="333941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36472E-98D7-D8F9-1C88-6BCA802F3B3E}"/>
                  </a:ext>
                </a:extLst>
              </p:cNvPr>
              <p:cNvSpPr txBox="1"/>
              <p:nvPr/>
            </p:nvSpPr>
            <p:spPr>
              <a:xfrm>
                <a:off x="7954662" y="4434247"/>
                <a:ext cx="304697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1" smtClean="0">
                          <a:latin typeface="Cambria Math" panose="02040503050406030204" pitchFamily="18" charset="0"/>
                        </a:rPr>
                        <m:t>LPF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smtClean="0">
                          <a:latin typeface="Cambria Math" panose="02040503050406030204" pitchFamily="18" charset="0"/>
                        </a:rPr>
                        <m:t>6.05 </m:t>
                      </m:r>
                      <m:r>
                        <m:rPr>
                          <m:sty m:val="p"/>
                        </m:rPr>
                        <a:rPr lang="en-US" sz="2200" i="1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36472E-98D7-D8F9-1C88-6BCA802F3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662" y="4434247"/>
                <a:ext cx="3046970" cy="430887"/>
              </a:xfrm>
              <a:prstGeom prst="rect">
                <a:avLst/>
              </a:prstGeom>
              <a:blipFill>
                <a:blip r:embed="rId6"/>
                <a:stretch>
                  <a:fillRect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B19C4F7-CD2A-0F01-5071-EC44A30E2F2A}"/>
              </a:ext>
            </a:extLst>
          </p:cNvPr>
          <p:cNvSpPr txBox="1"/>
          <p:nvPr/>
        </p:nvSpPr>
        <p:spPr>
          <a:xfrm>
            <a:off x="756741" y="434221"/>
            <a:ext cx="1069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Active Gain + Low-Pass Filter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939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FD10C9-E2C6-283F-45EB-8DC0BB765768}"/>
              </a:ext>
            </a:extLst>
          </p:cNvPr>
          <p:cNvSpPr/>
          <p:nvPr/>
        </p:nvSpPr>
        <p:spPr>
          <a:xfrm>
            <a:off x="959271" y="1716986"/>
            <a:ext cx="3869769" cy="16186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MATLAB</a:t>
            </a:r>
            <a:endParaRPr lang="en-US" sz="32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36231C-0A70-525B-1E9C-3846D8FEED02}"/>
              </a:ext>
            </a:extLst>
          </p:cNvPr>
          <p:cNvSpPr/>
          <p:nvPr/>
        </p:nvSpPr>
        <p:spPr>
          <a:xfrm>
            <a:off x="7249686" y="1716986"/>
            <a:ext cx="4085077" cy="16186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Arduino </a:t>
            </a:r>
            <a:endParaRPr lang="en-US" sz="32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CC08577-DA97-9480-1871-FECFCE436F0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829885" y="2485113"/>
            <a:ext cx="242704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767800-A9B9-F74A-8A1A-3775FB020B5E}"/>
              </a:ext>
            </a:extLst>
          </p:cNvPr>
          <p:cNvSpPr txBox="1"/>
          <p:nvPr/>
        </p:nvSpPr>
        <p:spPr>
          <a:xfrm>
            <a:off x="5131978" y="1887458"/>
            <a:ext cx="18228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LED drive command packets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47644-B2C8-5C67-EEC4-17C8EBC33B4A}"/>
              </a:ext>
            </a:extLst>
          </p:cNvPr>
          <p:cNvSpPr txBox="1"/>
          <p:nvPr/>
        </p:nvSpPr>
        <p:spPr>
          <a:xfrm>
            <a:off x="3420068" y="2192725"/>
            <a:ext cx="1409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USB Serial: Host Tx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E3BE-721E-649E-6C23-78D0FE315CEE}"/>
              </a:ext>
            </a:extLst>
          </p:cNvPr>
          <p:cNvSpPr txBox="1"/>
          <p:nvPr/>
        </p:nvSpPr>
        <p:spPr>
          <a:xfrm>
            <a:off x="7256931" y="2192725"/>
            <a:ext cx="13408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rebuchet MS" panose="020B0703020202090204" pitchFamily="34" charset="0"/>
              </a:rPr>
              <a:t>USB Serial: Device R</a:t>
            </a:r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x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B2CA2E-03DD-B2B7-2EDD-1919ADD91308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D89BD-6B66-0080-5716-38E18D3FF9B1}"/>
              </a:ext>
            </a:extLst>
          </p:cNvPr>
          <p:cNvSpPr txBox="1"/>
          <p:nvPr/>
        </p:nvSpPr>
        <p:spPr>
          <a:xfrm>
            <a:off x="756741" y="434221"/>
            <a:ext cx="1069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MATLAB → Arduino Serial Communication Protocol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89C081-1483-7047-D624-B2580B436C71}"/>
              </a:ext>
            </a:extLst>
          </p:cNvPr>
          <p:cNvSpPr txBox="1"/>
          <p:nvPr/>
        </p:nvSpPr>
        <p:spPr>
          <a:xfrm>
            <a:off x="756741" y="3896006"/>
            <a:ext cx="106967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rebuchet MS" panose="020B0703020202090204" pitchFamily="34" charset="0"/>
                <a:cs typeface="Courier New" panose="020703090202050204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acket = [</a:t>
            </a:r>
            <a:r>
              <a:rPr lang="en-US" sz="2000" dirty="0">
                <a:solidFill>
                  <a:schemeClr val="accent3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0xAA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2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0x01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5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0x06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0x01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0xB8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0x0B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0xE8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0x03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0x46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6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0xF5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C0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0x55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]</a:t>
            </a:r>
            <a:endParaRPr lang="en-US" sz="2000" i="1" dirty="0">
              <a:solidFill>
                <a:schemeClr val="tx1"/>
              </a:solidFill>
              <a:latin typeface="Trebuchet MS" panose="020B0703020202090204" pitchFamily="34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C01D0C-50A9-FA4F-83E5-CFD16ECBCE0F}"/>
              </a:ext>
            </a:extLst>
          </p:cNvPr>
          <p:cNvSpPr txBox="1"/>
          <p:nvPr/>
        </p:nvSpPr>
        <p:spPr>
          <a:xfrm>
            <a:off x="2617232" y="4232495"/>
            <a:ext cx="1059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3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Start Byte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4C5633-D4D4-777E-6C0F-203F21842391}"/>
              </a:ext>
            </a:extLst>
          </p:cNvPr>
          <p:cNvSpPr txBox="1"/>
          <p:nvPr/>
        </p:nvSpPr>
        <p:spPr>
          <a:xfrm>
            <a:off x="3450488" y="4252130"/>
            <a:ext cx="7501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ID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2C6FA2-2E94-FD3A-7575-2C63D352D02D}"/>
              </a:ext>
            </a:extLst>
          </p:cNvPr>
          <p:cNvSpPr txBox="1"/>
          <p:nvPr/>
        </p:nvSpPr>
        <p:spPr>
          <a:xfrm>
            <a:off x="4016363" y="4224430"/>
            <a:ext cx="1059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Payload Length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15837C-62C0-FC46-36B0-962813A5881D}"/>
              </a:ext>
            </a:extLst>
          </p:cNvPr>
          <p:cNvSpPr txBox="1"/>
          <p:nvPr/>
        </p:nvSpPr>
        <p:spPr>
          <a:xfrm>
            <a:off x="4707098" y="4469467"/>
            <a:ext cx="10464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LED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29A43F-C482-EE77-5B28-2F9942347E41}"/>
              </a:ext>
            </a:extLst>
          </p:cNvPr>
          <p:cNvSpPr txBox="1"/>
          <p:nvPr/>
        </p:nvSpPr>
        <p:spPr>
          <a:xfrm>
            <a:off x="5548117" y="4226633"/>
            <a:ext cx="750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LSB</a:t>
            </a:r>
            <a:endParaRPr lang="en-US" sz="1400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F1C875-2C36-79F9-8F84-5400ADEBE660}"/>
              </a:ext>
            </a:extLst>
          </p:cNvPr>
          <p:cNvSpPr txBox="1"/>
          <p:nvPr/>
        </p:nvSpPr>
        <p:spPr>
          <a:xfrm>
            <a:off x="6239674" y="4224430"/>
            <a:ext cx="750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MSB</a:t>
            </a:r>
            <a:endParaRPr lang="en-US" sz="140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86516F-A44F-AAC6-505C-505E824D4FD8}"/>
              </a:ext>
            </a:extLst>
          </p:cNvPr>
          <p:cNvSpPr txBox="1"/>
          <p:nvPr/>
        </p:nvSpPr>
        <p:spPr>
          <a:xfrm>
            <a:off x="5526328" y="4477214"/>
            <a:ext cx="15163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Duration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261BA1-234C-3CFA-57C8-8CBD22769D41}"/>
              </a:ext>
            </a:extLst>
          </p:cNvPr>
          <p:cNvSpPr txBox="1"/>
          <p:nvPr/>
        </p:nvSpPr>
        <p:spPr>
          <a:xfrm>
            <a:off x="6953479" y="4239849"/>
            <a:ext cx="750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accent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LSB</a:t>
            </a:r>
            <a:endParaRPr lang="en-US" sz="1400" i="1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C7BB42-F547-66C9-DBA0-2543EB17A2B4}"/>
              </a:ext>
            </a:extLst>
          </p:cNvPr>
          <p:cNvSpPr txBox="1"/>
          <p:nvPr/>
        </p:nvSpPr>
        <p:spPr>
          <a:xfrm>
            <a:off x="7645036" y="4237646"/>
            <a:ext cx="750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accent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MSB</a:t>
            </a:r>
            <a:endParaRPr lang="en-US" sz="1400" i="1" dirty="0">
              <a:solidFill>
                <a:schemeClr val="accent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77A370-2AB8-251E-CF8D-8B8E27A22931}"/>
              </a:ext>
            </a:extLst>
          </p:cNvPr>
          <p:cNvSpPr txBox="1"/>
          <p:nvPr/>
        </p:nvSpPr>
        <p:spPr>
          <a:xfrm>
            <a:off x="6961698" y="4506707"/>
            <a:ext cx="15163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Deadtime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77D230-89B6-63F5-106B-7D048C75547B}"/>
              </a:ext>
            </a:extLst>
          </p:cNvPr>
          <p:cNvSpPr txBox="1"/>
          <p:nvPr/>
        </p:nvSpPr>
        <p:spPr>
          <a:xfrm>
            <a:off x="8254087" y="4508170"/>
            <a:ext cx="10592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Intensity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790795-3AD8-D78E-7903-06E288F4CF82}"/>
              </a:ext>
            </a:extLst>
          </p:cNvPr>
          <p:cNvSpPr txBox="1"/>
          <p:nvPr/>
        </p:nvSpPr>
        <p:spPr>
          <a:xfrm>
            <a:off x="8868363" y="4220687"/>
            <a:ext cx="1121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Checksum</a:t>
            </a:r>
            <a:endParaRPr 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C9C3EC-B3CC-E133-D2B3-F65CB490EFB8}"/>
              </a:ext>
            </a:extLst>
          </p:cNvPr>
          <p:cNvSpPr txBox="1"/>
          <p:nvPr/>
        </p:nvSpPr>
        <p:spPr>
          <a:xfrm>
            <a:off x="9712607" y="4231601"/>
            <a:ext cx="9163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End Byte</a:t>
            </a:r>
            <a:endParaRPr lang="en-US" sz="1600" dirty="0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EB289463-F5D6-A914-9B5D-16817C307050}"/>
              </a:ext>
            </a:extLst>
          </p:cNvPr>
          <p:cNvSpPr/>
          <p:nvPr/>
        </p:nvSpPr>
        <p:spPr>
          <a:xfrm rot="5400000">
            <a:off x="7008595" y="2867807"/>
            <a:ext cx="165276" cy="4151830"/>
          </a:xfrm>
          <a:prstGeom prst="rightBrac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36ED43-5383-3DAA-7A95-FF230B8A5891}"/>
              </a:ext>
            </a:extLst>
          </p:cNvPr>
          <p:cNvSpPr txBox="1"/>
          <p:nvPr/>
        </p:nvSpPr>
        <p:spPr>
          <a:xfrm>
            <a:off x="6078372" y="5026359"/>
            <a:ext cx="2025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Payload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E56987-992F-209D-6E85-69D7A6D7E059}"/>
              </a:ext>
            </a:extLst>
          </p:cNvPr>
          <p:cNvSpPr txBox="1"/>
          <p:nvPr/>
        </p:nvSpPr>
        <p:spPr>
          <a:xfrm>
            <a:off x="760325" y="5569804"/>
            <a:ext cx="10696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rebuchet MS" panose="020B0703020202090204" pitchFamily="34" charset="0"/>
                <a:cs typeface="Courier New" panose="02070309020205020404" pitchFamily="49" charset="0"/>
              </a:rPr>
              <a:t>“Turn on the </a:t>
            </a:r>
            <a:r>
              <a:rPr lang="en-US" sz="1800" dirty="0">
                <a:solidFill>
                  <a:srgbClr val="FF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red LED </a:t>
            </a:r>
            <a:r>
              <a:rPr lang="en-US" sz="1800" dirty="0">
                <a:latin typeface="Trebuchet MS" panose="020B0703020202090204" pitchFamily="34" charset="0"/>
                <a:cs typeface="Courier New" panose="02070309020205020404" pitchFamily="49" charset="0"/>
              </a:rPr>
              <a:t>for a </a:t>
            </a:r>
            <a:r>
              <a:rPr lang="en-US" sz="1800" dirty="0">
                <a:solidFill>
                  <a:srgbClr val="00B0F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duration of </a:t>
            </a:r>
            <a:r>
              <a:rPr lang="en-US" sz="1800" dirty="0">
                <a:solidFill>
                  <a:schemeClr val="accent4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3000 </a:t>
            </a:r>
            <a:r>
              <a:rPr lang="en-US" sz="1800" dirty="0" err="1">
                <a:solidFill>
                  <a:schemeClr val="accent4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ms</a:t>
            </a:r>
            <a:r>
              <a:rPr lang="en-US" sz="1800" dirty="0">
                <a:latin typeface="Trebuchet MS" panose="020B0703020202090204" pitchFamily="34" charset="0"/>
                <a:cs typeface="Courier New" panose="02070309020205020404" pitchFamily="49" charset="0"/>
              </a:rPr>
              <a:t> using a </a:t>
            </a:r>
            <a:r>
              <a:rPr lang="en-US" sz="1800" dirty="0">
                <a:solidFill>
                  <a:schemeClr val="accent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deadtime of 1000 </a:t>
            </a:r>
            <a:r>
              <a:rPr lang="en-US" sz="1800" dirty="0" err="1">
                <a:solidFill>
                  <a:schemeClr val="accent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ms</a:t>
            </a:r>
            <a:r>
              <a:rPr lang="en-US" sz="1800" dirty="0">
                <a:solidFill>
                  <a:schemeClr val="accent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latin typeface="Trebuchet MS" panose="020B0703020202090204" pitchFamily="34" charset="0"/>
                <a:cs typeface="Courier New" panose="02070309020205020404" pitchFamily="49" charset="0"/>
              </a:rPr>
              <a:t>and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intensity 70</a:t>
            </a:r>
            <a:r>
              <a:rPr lang="en-US" sz="1800" dirty="0">
                <a:latin typeface="Trebuchet MS" panose="020B0703020202090204" pitchFamily="34" charset="0"/>
                <a:cs typeface="Courier New" panose="02070309020205020404" pitchFamily="49" charset="0"/>
              </a:rPr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48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771C-B7FC-EC29-9396-8061845BA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BAFD3E-0062-7A2E-029C-64498DC88165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836D2-3018-A92E-48C5-7D22E0B1DEB3}"/>
              </a:ext>
            </a:extLst>
          </p:cNvPr>
          <p:cNvSpPr txBox="1"/>
          <p:nvPr/>
        </p:nvSpPr>
        <p:spPr>
          <a:xfrm>
            <a:off x="756741" y="434221"/>
            <a:ext cx="1069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MATLAB → Arduino Serial Communication Protocol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46508A-BA86-5FF6-E443-B77312F5AF8C}"/>
              </a:ext>
            </a:extLst>
          </p:cNvPr>
          <p:cNvSpPr txBox="1"/>
          <p:nvPr/>
        </p:nvSpPr>
        <p:spPr>
          <a:xfrm>
            <a:off x="1198179" y="1001091"/>
            <a:ext cx="10255326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i="0" dirty="0">
                <a:solidFill>
                  <a:srgbClr val="0E00FF"/>
                </a:solidFill>
                <a:effectLst/>
                <a:latin typeface="Menlo" panose="020B0609030804020204" pitchFamily="49" charset="0"/>
              </a:rPr>
              <a:t>function 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packet = </a:t>
            </a:r>
            <a:r>
              <a:rPr lang="en-US" sz="1500" b="0" i="0" dirty="0" err="1">
                <a:effectLst/>
                <a:latin typeface="Menlo" panose="020B0609030804020204" pitchFamily="49" charset="0"/>
              </a:rPr>
              <a:t>buildPacket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(command, </a:t>
            </a:r>
            <a:r>
              <a:rPr lang="en-US" sz="1500" b="0" i="0" dirty="0" err="1">
                <a:effectLst/>
                <a:latin typeface="Menlo" panose="020B0609030804020204" pitchFamily="49" charset="0"/>
              </a:rPr>
              <a:t>whichLed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, duration, deadtime, intensity)</a:t>
            </a:r>
          </a:p>
          <a:p>
            <a:pPr lvl="1"/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</a:t>
            </a:r>
            <a:r>
              <a:rPr lang="en-US" sz="1500" b="0" i="0" dirty="0" err="1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buildLedPacket</a:t>
            </a:r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 Constructs a command packet for the </a:t>
            </a:r>
            <a:r>
              <a:rPr lang="en-US" sz="1500" b="0" i="0" dirty="0" err="1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Nellcor</a:t>
            </a:r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 probe LED.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Inputs: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duration - Duration in milliseconds (0–65535)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</a:t>
            </a:r>
            <a:r>
              <a:rPr lang="en-US" sz="1500" b="0" i="0" dirty="0" err="1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whichLed</a:t>
            </a:r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 - 0: OFF, 1: RED ON, 2: IR ON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intensity - LED intensity (0–255)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Output: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packet - 1x11 uint8 array ready to send via serial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 err="1">
                <a:effectLst/>
                <a:latin typeface="Menlo" panose="020B0609030804020204" pitchFamily="49" charset="0"/>
              </a:rPr>
              <a:t>startByte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 = uint8(170); </a:t>
            </a:r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0xAA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 err="1">
                <a:effectLst/>
                <a:latin typeface="Menlo" panose="020B0609030804020204" pitchFamily="49" charset="0"/>
              </a:rPr>
              <a:t>endByte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 = uint8(85); </a:t>
            </a:r>
            <a:r>
              <a:rPr lang="en-US" sz="1500" b="0" i="0" dirty="0">
                <a:solidFill>
                  <a:srgbClr val="008013"/>
                </a:solidFill>
                <a:effectLst/>
                <a:latin typeface="Menlo" panose="020B0609030804020204" pitchFamily="49" charset="0"/>
              </a:rPr>
              <a:t>% 0x55</a:t>
            </a:r>
            <a:br>
              <a:rPr lang="en-US" sz="1500" b="0" i="0" dirty="0">
                <a:effectLst/>
                <a:latin typeface="Menlo" panose="020B0609030804020204" pitchFamily="49" charset="0"/>
              </a:rPr>
            </a:b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 err="1">
                <a:effectLst/>
                <a:latin typeface="Menlo" panose="020B0609030804020204" pitchFamily="49" charset="0"/>
              </a:rPr>
              <a:t>durationBytes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 = typecast(uint16(duration), </a:t>
            </a:r>
            <a:r>
              <a:rPr lang="en-US" sz="15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'uint8'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); </a:t>
            </a:r>
            <a:r>
              <a:rPr lang="en-US" sz="1500" dirty="0">
                <a:solidFill>
                  <a:srgbClr val="008013"/>
                </a:solidFill>
                <a:latin typeface="Menlo" panose="020B0609030804020204" pitchFamily="49" charset="0"/>
              </a:rPr>
              <a:t>% little-endian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 err="1">
                <a:effectLst/>
                <a:latin typeface="Menlo" panose="020B0609030804020204" pitchFamily="49" charset="0"/>
              </a:rPr>
              <a:t>deadtimeBytes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 = typecast(uint16(deadtime), </a:t>
            </a:r>
            <a:r>
              <a:rPr lang="en-US" sz="1500" b="0" i="0" dirty="0">
                <a:solidFill>
                  <a:srgbClr val="A709F5"/>
                </a:solidFill>
                <a:effectLst/>
                <a:latin typeface="Menlo" panose="020B0609030804020204" pitchFamily="49" charset="0"/>
              </a:rPr>
              <a:t>'uint8’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); </a:t>
            </a:r>
            <a:r>
              <a:rPr lang="en-US" sz="1500" dirty="0">
                <a:solidFill>
                  <a:srgbClr val="008013"/>
                </a:solidFill>
                <a:latin typeface="Menlo" panose="020B0609030804020204" pitchFamily="49" charset="0"/>
              </a:rPr>
              <a:t>% little-endian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effectLst/>
                <a:latin typeface="Menlo" panose="020B0609030804020204" pitchFamily="49" charset="0"/>
              </a:rPr>
              <a:t>payload = [uint8(</a:t>
            </a:r>
            <a:r>
              <a:rPr lang="en-US" sz="1500" b="0" i="0" dirty="0" err="1">
                <a:effectLst/>
                <a:latin typeface="Menlo" panose="020B0609030804020204" pitchFamily="49" charset="0"/>
              </a:rPr>
              <a:t>whichLed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), </a:t>
            </a:r>
            <a:r>
              <a:rPr lang="en-US" sz="1500" b="0" i="0" dirty="0" err="1">
                <a:effectLst/>
                <a:latin typeface="Menlo" panose="020B0609030804020204" pitchFamily="49" charset="0"/>
              </a:rPr>
              <a:t>durationBytes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, </a:t>
            </a:r>
            <a:r>
              <a:rPr lang="en-US" sz="1500" b="0" i="0" dirty="0" err="1">
                <a:effectLst/>
                <a:latin typeface="Menlo" panose="020B0609030804020204" pitchFamily="49" charset="0"/>
              </a:rPr>
              <a:t>deadtimeBytes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, uint8(intensity)];</a:t>
            </a:r>
          </a:p>
          <a:p>
            <a:pPr lvl="1"/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 err="1">
                <a:effectLst/>
                <a:latin typeface="Menlo" panose="020B0609030804020204" pitchFamily="49" charset="0"/>
              </a:rPr>
              <a:t>lengthPayload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 = uint8(</a:t>
            </a:r>
            <a:r>
              <a:rPr lang="en-US" sz="1500" b="0" i="0" dirty="0" err="1">
                <a:effectLst/>
                <a:latin typeface="Menlo" panose="020B0609030804020204" pitchFamily="49" charset="0"/>
              </a:rPr>
              <a:t>numel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(payload));</a:t>
            </a:r>
          </a:p>
          <a:p>
            <a:pPr lvl="1"/>
            <a:r>
              <a:rPr lang="en-US" sz="1500" b="0" i="0" dirty="0">
                <a:effectLst/>
                <a:latin typeface="Menlo" panose="020B0609030804020204" pitchFamily="49" charset="0"/>
              </a:rPr>
              <a:t>checksum = uint8(mod(sum(payload), 256));</a:t>
            </a:r>
          </a:p>
          <a:p>
            <a:pPr lvl="1"/>
            <a:endParaRPr lang="en-US" sz="1500" b="0" i="0" dirty="0">
              <a:effectLst/>
              <a:latin typeface="Menlo" panose="020B0609030804020204" pitchFamily="49" charset="0"/>
            </a:endParaRPr>
          </a:p>
          <a:p>
            <a:pPr lvl="1"/>
            <a:r>
              <a:rPr lang="en-US" sz="1500" b="0" i="0" dirty="0">
                <a:effectLst/>
                <a:latin typeface="Menlo" panose="020B0609030804020204" pitchFamily="49" charset="0"/>
              </a:rPr>
              <a:t>packet = [</a:t>
            </a:r>
            <a:r>
              <a:rPr lang="en-US" sz="1500" b="0" i="0" dirty="0" err="1">
                <a:effectLst/>
                <a:latin typeface="Menlo" panose="020B0609030804020204" pitchFamily="49" charset="0"/>
              </a:rPr>
              <a:t>startByte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, command, </a:t>
            </a:r>
            <a:r>
              <a:rPr lang="en-US" sz="1500" b="0" i="0" dirty="0" err="1">
                <a:effectLst/>
                <a:latin typeface="Menlo" panose="020B0609030804020204" pitchFamily="49" charset="0"/>
              </a:rPr>
              <a:t>lengthPayload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, payload, checksum, </a:t>
            </a:r>
            <a:r>
              <a:rPr lang="en-US" sz="1500" b="0" i="0" dirty="0" err="1">
                <a:effectLst/>
                <a:latin typeface="Menlo" panose="020B0609030804020204" pitchFamily="49" charset="0"/>
              </a:rPr>
              <a:t>endByte</a:t>
            </a:r>
            <a:r>
              <a:rPr lang="en-US" sz="1500" b="0" i="0" dirty="0">
                <a:effectLst/>
                <a:latin typeface="Menlo" panose="020B0609030804020204" pitchFamily="49" charset="0"/>
              </a:rPr>
              <a:t>];</a:t>
            </a:r>
          </a:p>
          <a:p>
            <a:pPr>
              <a:buNone/>
            </a:pPr>
            <a:r>
              <a:rPr lang="en-US" sz="1500" b="0" i="0" dirty="0">
                <a:solidFill>
                  <a:srgbClr val="0E00FF"/>
                </a:solidFill>
                <a:effectLst/>
                <a:latin typeface="Menlo" panose="020B0609030804020204" pitchFamily="49" charset="0"/>
              </a:rPr>
              <a:t>end</a:t>
            </a:r>
            <a:endParaRPr lang="en-US" sz="1500" b="0" i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24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29A6-F2F6-5A97-3DF5-067634D8D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D04D54-87D1-7DA2-2F99-68A6A8506221}"/>
              </a:ext>
            </a:extLst>
          </p:cNvPr>
          <p:cNvSpPr/>
          <p:nvPr/>
        </p:nvSpPr>
        <p:spPr>
          <a:xfrm>
            <a:off x="959271" y="1716986"/>
            <a:ext cx="3869769" cy="16186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MATLAB</a:t>
            </a:r>
            <a:endParaRPr lang="en-US" sz="32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B22D28-4B96-6D9B-CC1A-3576F94CCB3E}"/>
              </a:ext>
            </a:extLst>
          </p:cNvPr>
          <p:cNvSpPr/>
          <p:nvPr/>
        </p:nvSpPr>
        <p:spPr>
          <a:xfrm>
            <a:off x="7249686" y="1716986"/>
            <a:ext cx="4085077" cy="16186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Arduino </a:t>
            </a:r>
            <a:endParaRPr lang="en-US" sz="32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F802F-09FE-52E2-1719-79442A9DCE58}"/>
              </a:ext>
            </a:extLst>
          </p:cNvPr>
          <p:cNvSpPr txBox="1"/>
          <p:nvPr/>
        </p:nvSpPr>
        <p:spPr>
          <a:xfrm>
            <a:off x="3420068" y="2192725"/>
            <a:ext cx="1409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USB Serial: Host Rx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DE3A1-E451-2ED2-AC4D-EB4FE2E78662}"/>
              </a:ext>
            </a:extLst>
          </p:cNvPr>
          <p:cNvSpPr txBox="1"/>
          <p:nvPr/>
        </p:nvSpPr>
        <p:spPr>
          <a:xfrm>
            <a:off x="7256931" y="2192725"/>
            <a:ext cx="13408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rebuchet MS" panose="020B0703020202090204" pitchFamily="34" charset="0"/>
              </a:rPr>
              <a:t>USB Serial: Device T</a:t>
            </a:r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x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7E13A0-5E64-97BF-9E16-9CB422F45C72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918BC-F61D-5245-0658-3591CE1FDE2A}"/>
              </a:ext>
            </a:extLst>
          </p:cNvPr>
          <p:cNvSpPr txBox="1"/>
          <p:nvPr/>
        </p:nvSpPr>
        <p:spPr>
          <a:xfrm>
            <a:off x="756741" y="434221"/>
            <a:ext cx="1069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MATLAB ← Arduino Serial Communication Protocol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EF8348-360E-1932-5D76-868D55FDC157}"/>
              </a:ext>
            </a:extLst>
          </p:cNvPr>
          <p:cNvSpPr txBox="1"/>
          <p:nvPr/>
        </p:nvSpPr>
        <p:spPr>
          <a:xfrm>
            <a:off x="756741" y="3896006"/>
            <a:ext cx="106967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rebuchet MS" panose="020B0703020202090204" pitchFamily="34" charset="0"/>
                <a:cs typeface="Courier New" panose="02070309020205020404" pitchFamily="49" charset="0"/>
              </a:rPr>
              <a:t>p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acket = [</a:t>
            </a:r>
            <a:r>
              <a:rPr lang="en-US" sz="2000" dirty="0">
                <a:solidFill>
                  <a:schemeClr val="accent3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0xAA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0x02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2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0xF4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2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0x01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0xF1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0x07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0x00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0x00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chemeClr val="accent6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0xEE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C0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0x55</a:t>
            </a:r>
            <a:r>
              <a:rPr lang="en-US" sz="2000" dirty="0">
                <a:solidFill>
                  <a:schemeClr val="tx1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]</a:t>
            </a:r>
            <a:endParaRPr lang="en-US" sz="2000" i="1" dirty="0">
              <a:solidFill>
                <a:schemeClr val="tx1"/>
              </a:solidFill>
              <a:latin typeface="Trebuchet MS" panose="020B0703020202090204" pitchFamily="34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8708E0-DBA8-F665-0B3C-BEED3D60C0D4}"/>
              </a:ext>
            </a:extLst>
          </p:cNvPr>
          <p:cNvSpPr txBox="1"/>
          <p:nvPr/>
        </p:nvSpPr>
        <p:spPr>
          <a:xfrm>
            <a:off x="2929251" y="4222895"/>
            <a:ext cx="1059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3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Start Byte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BA3D61-36D6-AFF3-52AD-A2915ED4B285}"/>
              </a:ext>
            </a:extLst>
          </p:cNvPr>
          <p:cNvSpPr txBox="1"/>
          <p:nvPr/>
        </p:nvSpPr>
        <p:spPr>
          <a:xfrm>
            <a:off x="3657565" y="4484939"/>
            <a:ext cx="10464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LED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4CB0B5-D2F5-DAB7-1610-80275551235E}"/>
              </a:ext>
            </a:extLst>
          </p:cNvPr>
          <p:cNvSpPr txBox="1"/>
          <p:nvPr/>
        </p:nvSpPr>
        <p:spPr>
          <a:xfrm>
            <a:off x="4518183" y="4237435"/>
            <a:ext cx="750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accent2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LSB</a:t>
            </a:r>
            <a:endParaRPr lang="en-US" sz="1400" i="1" dirty="0">
              <a:solidFill>
                <a:schemeClr val="accent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786D21-06E1-D7CA-B461-DA41863E7601}"/>
              </a:ext>
            </a:extLst>
          </p:cNvPr>
          <p:cNvSpPr txBox="1"/>
          <p:nvPr/>
        </p:nvSpPr>
        <p:spPr>
          <a:xfrm>
            <a:off x="5205162" y="4224266"/>
            <a:ext cx="750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accent2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MSB</a:t>
            </a:r>
            <a:endParaRPr lang="en-US" sz="1400" i="1" dirty="0">
              <a:solidFill>
                <a:schemeClr val="accent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EE9DD3-BF64-4D18-2258-AD0793E5F261}"/>
              </a:ext>
            </a:extLst>
          </p:cNvPr>
          <p:cNvSpPr txBox="1"/>
          <p:nvPr/>
        </p:nvSpPr>
        <p:spPr>
          <a:xfrm>
            <a:off x="4585583" y="4488227"/>
            <a:ext cx="1302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2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Value</a:t>
            </a:r>
            <a:endParaRPr lang="en-US" sz="1600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18A1B1-25FF-0D9F-9587-53A4ADF424CC}"/>
              </a:ext>
            </a:extLst>
          </p:cNvPr>
          <p:cNvSpPr txBox="1"/>
          <p:nvPr/>
        </p:nvSpPr>
        <p:spPr>
          <a:xfrm>
            <a:off x="5892141" y="4228654"/>
            <a:ext cx="750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LSB</a:t>
            </a:r>
            <a:endParaRPr lang="en-US" sz="14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1A3495-D55E-1379-1AD7-EAB6CC55474E}"/>
              </a:ext>
            </a:extLst>
          </p:cNvPr>
          <p:cNvSpPr txBox="1"/>
          <p:nvPr/>
        </p:nvSpPr>
        <p:spPr>
          <a:xfrm>
            <a:off x="7948893" y="4203001"/>
            <a:ext cx="7501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MSB</a:t>
            </a:r>
            <a:endParaRPr lang="en-US" sz="14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A31C1C-8E4C-1B99-CBEE-EC8688004DAC}"/>
              </a:ext>
            </a:extLst>
          </p:cNvPr>
          <p:cNvSpPr txBox="1"/>
          <p:nvPr/>
        </p:nvSpPr>
        <p:spPr>
          <a:xfrm>
            <a:off x="6010531" y="4506707"/>
            <a:ext cx="26885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Timestamp</a:t>
            </a:r>
            <a:endParaRPr lang="en-U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915205-2F30-6259-0E0B-E3AD3F52C51E}"/>
              </a:ext>
            </a:extLst>
          </p:cNvPr>
          <p:cNvSpPr txBox="1"/>
          <p:nvPr/>
        </p:nvSpPr>
        <p:spPr>
          <a:xfrm>
            <a:off x="8500798" y="4222895"/>
            <a:ext cx="1121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Checksum</a:t>
            </a:r>
            <a:endParaRPr lang="en-US" sz="1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CEACD-BE05-611F-0588-DDA93A6D4D7E}"/>
              </a:ext>
            </a:extLst>
          </p:cNvPr>
          <p:cNvSpPr txBox="1"/>
          <p:nvPr/>
        </p:nvSpPr>
        <p:spPr>
          <a:xfrm>
            <a:off x="9349031" y="4232494"/>
            <a:ext cx="9163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End Byte</a:t>
            </a:r>
            <a:endParaRPr lang="en-US" sz="1600" dirty="0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8489E4BF-CD27-BCE2-3AAB-749A47982254}"/>
              </a:ext>
            </a:extLst>
          </p:cNvPr>
          <p:cNvSpPr/>
          <p:nvPr/>
        </p:nvSpPr>
        <p:spPr>
          <a:xfrm rot="5400000">
            <a:off x="6223806" y="2625816"/>
            <a:ext cx="138697" cy="4609233"/>
          </a:xfrm>
          <a:prstGeom prst="rightBrac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64F38A-4608-751B-8D92-137A9C3B2E31}"/>
              </a:ext>
            </a:extLst>
          </p:cNvPr>
          <p:cNvSpPr txBox="1"/>
          <p:nvPr/>
        </p:nvSpPr>
        <p:spPr>
          <a:xfrm>
            <a:off x="5280293" y="4978721"/>
            <a:ext cx="2025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5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Payload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1D8C54-2DBF-DD71-34CA-316CAB867E38}"/>
              </a:ext>
            </a:extLst>
          </p:cNvPr>
          <p:cNvSpPr txBox="1"/>
          <p:nvPr/>
        </p:nvSpPr>
        <p:spPr>
          <a:xfrm>
            <a:off x="760325" y="5569804"/>
            <a:ext cx="10696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rebuchet MS" panose="020B0703020202090204" pitchFamily="34" charset="0"/>
                <a:cs typeface="Courier New" panose="02070309020205020404" pitchFamily="49" charset="0"/>
              </a:rPr>
              <a:t>“The </a:t>
            </a:r>
            <a:r>
              <a:rPr lang="en-US" sz="1800" dirty="0">
                <a:solidFill>
                  <a:srgbClr val="FF0000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IR LED</a:t>
            </a:r>
            <a:r>
              <a:rPr lang="en-US" sz="1800" dirty="0">
                <a:latin typeface="Trebuchet MS" panose="020B0703020202090204" pitchFamily="34" charset="0"/>
                <a:cs typeface="Courier New" panose="02070309020205020404" pitchFamily="49" charset="0"/>
              </a:rPr>
              <a:t> produced a </a:t>
            </a:r>
            <a:r>
              <a:rPr lang="en-US" sz="1800" dirty="0">
                <a:solidFill>
                  <a:schemeClr val="accent2"/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value of 500</a:t>
            </a:r>
            <a:r>
              <a:rPr lang="en-US" sz="1800" dirty="0">
                <a:latin typeface="Trebuchet MS" panose="020B0703020202090204" pitchFamily="34" charset="0"/>
                <a:cs typeface="Courier New" panose="02070309020205020404" pitchFamily="49" charset="0"/>
              </a:rPr>
              <a:t> at a </a:t>
            </a:r>
            <a:r>
              <a:rPr lang="en-US" sz="1800" dirty="0">
                <a:solidFill>
                  <a:schemeClr val="tx2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timestamp of 2033 </a:t>
            </a:r>
            <a:r>
              <a:rPr lang="en-US" sz="1800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Trebuchet MS" panose="020B0703020202090204" pitchFamily="34" charset="0"/>
                <a:cs typeface="Courier New" panose="02070309020205020404" pitchFamily="49" charset="0"/>
              </a:rPr>
              <a:t>ms</a:t>
            </a:r>
            <a:r>
              <a:rPr lang="en-US" sz="1800" dirty="0">
                <a:latin typeface="Trebuchet MS" panose="020B0703020202090204" pitchFamily="34" charset="0"/>
                <a:cs typeface="Courier New" panose="02070309020205020404" pitchFamily="49" charset="0"/>
              </a:rPr>
              <a:t>”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6807AE9-53D3-0C76-53D3-9DDB5240F029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4829885" y="2485113"/>
            <a:ext cx="2427046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71766D-BE31-E75E-18B1-5CC34E6B083F}"/>
              </a:ext>
            </a:extLst>
          </p:cNvPr>
          <p:cNvSpPr txBox="1"/>
          <p:nvPr/>
        </p:nvSpPr>
        <p:spPr>
          <a:xfrm>
            <a:off x="5111389" y="1864669"/>
            <a:ext cx="18640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Digitalized PPG packets</a:t>
            </a:r>
            <a:endParaRPr lang="en-US" sz="1600" i="1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911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C7C8C-84F4-B8F8-F70C-814E6A062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731D0A-3C37-0E5E-D347-FFF1AB290436}"/>
              </a:ext>
            </a:extLst>
          </p:cNvPr>
          <p:cNvSpPr>
            <a:spLocks noChangeAspect="1"/>
          </p:cNvSpPr>
          <p:nvPr/>
        </p:nvSpPr>
        <p:spPr>
          <a:xfrm>
            <a:off x="756742" y="362606"/>
            <a:ext cx="10696763" cy="60169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17EFB-4DFE-6978-3A58-F6FA618A4FF6}"/>
              </a:ext>
            </a:extLst>
          </p:cNvPr>
          <p:cNvSpPr txBox="1"/>
          <p:nvPr/>
        </p:nvSpPr>
        <p:spPr>
          <a:xfrm>
            <a:off x="756741" y="434221"/>
            <a:ext cx="106967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MATLAB ← Arduino Serial Communication Protocol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20309-DDAC-BD9C-4A66-574B4B6486EF}"/>
              </a:ext>
            </a:extLst>
          </p:cNvPr>
          <p:cNvSpPr txBox="1"/>
          <p:nvPr/>
        </p:nvSpPr>
        <p:spPr>
          <a:xfrm>
            <a:off x="1075170" y="1046187"/>
            <a:ext cx="10331580" cy="5326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1530" b="0" dirty="0">
                <a:solidFill>
                  <a:srgbClr val="00979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sendPacket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>
                <a:solidFill>
                  <a:srgbClr val="00979D"/>
                </a:solidFill>
                <a:effectLst/>
                <a:latin typeface="Menlo" panose="020B0609030804020204" pitchFamily="49" charset="0"/>
              </a:rPr>
              <a:t>uint8_t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encoding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530" b="0" dirty="0">
                <a:solidFill>
                  <a:srgbClr val="00979D"/>
                </a:solidFill>
                <a:effectLst/>
                <a:latin typeface="Menlo" panose="020B0609030804020204" pitchFamily="49" charset="0"/>
              </a:rPr>
              <a:t>uint16_t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value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530" b="0" dirty="0">
                <a:solidFill>
                  <a:srgbClr val="00979D"/>
                </a:solidFill>
                <a:effectLst/>
                <a:latin typeface="Menlo" panose="020B0609030804020204" pitchFamily="49" charset="0"/>
              </a:rPr>
              <a:t>uint32_t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timestamp)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{</a:t>
            </a:r>
            <a:endParaRPr lang="en-US" sz="1530" b="0" dirty="0">
              <a:solidFill>
                <a:srgbClr val="4E5B61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>
                <a:solidFill>
                  <a:srgbClr val="00979D"/>
                </a:solidFill>
                <a:effectLst/>
                <a:latin typeface="Menlo" panose="020B0609030804020204" pitchFamily="49" charset="0"/>
              </a:rPr>
              <a:t>uint8_t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start = 0x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AA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, end = 0x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55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>
                <a:solidFill>
                  <a:srgbClr val="00979D"/>
                </a:solidFill>
                <a:effectLst/>
                <a:latin typeface="Menlo" panose="020B0609030804020204" pitchFamily="49" charset="0"/>
              </a:rPr>
              <a:t>uint8_t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vBytes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];</a:t>
            </a:r>
            <a:r>
              <a:rPr lang="en-US" sz="1530" b="0" dirty="0">
                <a:solidFill>
                  <a:srgbClr val="95A5A6"/>
                </a:solidFill>
                <a:effectLst/>
                <a:latin typeface="Menlo" panose="020B0609030804020204" pitchFamily="49" charset="0"/>
              </a:rPr>
              <a:t> // initialize value array</a:t>
            </a:r>
            <a:endParaRPr lang="en-US" sz="1530" b="0" dirty="0">
              <a:solidFill>
                <a:srgbClr val="4E5B61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>
                <a:solidFill>
                  <a:srgbClr val="00979D"/>
                </a:solidFill>
                <a:effectLst/>
                <a:latin typeface="Menlo" panose="020B0609030804020204" pitchFamily="49" charset="0"/>
              </a:rPr>
              <a:t>uint8_t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tBytes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];</a:t>
            </a:r>
            <a:r>
              <a:rPr lang="en-US" sz="1530" b="0" dirty="0">
                <a:solidFill>
                  <a:srgbClr val="95A5A6"/>
                </a:solidFill>
                <a:effectLst/>
                <a:latin typeface="Menlo" panose="020B0609030804020204" pitchFamily="49" charset="0"/>
              </a:rPr>
              <a:t> // initialize time array</a:t>
            </a:r>
            <a:endParaRPr lang="en-US" sz="1530" b="0" dirty="0">
              <a:solidFill>
                <a:srgbClr val="4E5B61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memcpy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vBytes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, &amp;value, 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530" b="0" dirty="0">
                <a:solidFill>
                  <a:srgbClr val="95A5A6"/>
                </a:solidFill>
                <a:effectLst/>
                <a:latin typeface="Menlo" panose="020B0609030804020204" pitchFamily="49" charset="0"/>
              </a:rPr>
              <a:t> // pull from memory </a:t>
            </a:r>
            <a:r>
              <a:rPr lang="en-US" sz="1530" dirty="0">
                <a:solidFill>
                  <a:srgbClr val="95A5A6"/>
                </a:solidFill>
                <a:latin typeface="Menlo" panose="020B0609030804020204" pitchFamily="49" charset="0"/>
              </a:rPr>
              <a:t>+ </a:t>
            </a:r>
            <a:r>
              <a:rPr lang="en-US" sz="1530" b="0" dirty="0" err="1">
                <a:solidFill>
                  <a:srgbClr val="95A5A6"/>
                </a:solidFill>
                <a:effectLst/>
                <a:latin typeface="Menlo" panose="020B0609030804020204" pitchFamily="49" charset="0"/>
              </a:rPr>
              <a:t>bitshift</a:t>
            </a:r>
            <a:r>
              <a:rPr lang="en-US" sz="1530" b="0" dirty="0">
                <a:solidFill>
                  <a:srgbClr val="95A5A6"/>
                </a:solidFill>
                <a:effectLst/>
                <a:latin typeface="Menlo" panose="020B0609030804020204" pitchFamily="49" charset="0"/>
              </a:rPr>
              <a:t> (little-endian style)</a:t>
            </a:r>
            <a:endParaRPr lang="en-US" sz="1530" b="0" dirty="0">
              <a:solidFill>
                <a:srgbClr val="4E5B61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memcpy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tBytes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, &amp;timestamp, 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530" b="0" dirty="0">
                <a:solidFill>
                  <a:srgbClr val="95A5A6"/>
                </a:solidFill>
                <a:effectLst/>
                <a:latin typeface="Menlo" panose="020B0609030804020204" pitchFamily="49" charset="0"/>
              </a:rPr>
              <a:t> // pull from memory + </a:t>
            </a:r>
            <a:r>
              <a:rPr lang="en-US" sz="1530" b="0" dirty="0" err="1">
                <a:solidFill>
                  <a:srgbClr val="95A5A6"/>
                </a:solidFill>
                <a:effectLst/>
                <a:latin typeface="Menlo" panose="020B0609030804020204" pitchFamily="49" charset="0"/>
              </a:rPr>
              <a:t>bitshift</a:t>
            </a:r>
            <a:endParaRPr lang="en-US" sz="1530" b="0" dirty="0">
              <a:solidFill>
                <a:srgbClr val="4E5B61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spcAft>
                <a:spcPts val="800"/>
              </a:spcAft>
            </a:pPr>
            <a:b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</a:br>
            <a:endParaRPr lang="en-US" sz="1530" b="0" dirty="0">
              <a:solidFill>
                <a:srgbClr val="4E5B61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>
                <a:solidFill>
                  <a:srgbClr val="00979D"/>
                </a:solidFill>
                <a:effectLst/>
                <a:latin typeface="Menlo" panose="020B0609030804020204" pitchFamily="49" charset="0"/>
              </a:rPr>
              <a:t>uint8_t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checksum = 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encoding + 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vBytes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] + 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vBytes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] +</a:t>
            </a: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tBytes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] + 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tBytes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] + 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tBytes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] + 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tBytes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 % 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256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350"/>
              </a:lnSpc>
              <a:spcAft>
                <a:spcPts val="800"/>
              </a:spcAft>
            </a:pPr>
            <a:b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</a:br>
            <a:endParaRPr lang="en-US" sz="1530" b="0" dirty="0">
              <a:solidFill>
                <a:srgbClr val="4E5B61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Serial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start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Serial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encoding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Serial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vBytes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Serial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tBytes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530" b="0" dirty="0">
                <a:solidFill>
                  <a:srgbClr val="005C5F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Serial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checksum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>
              <a:lnSpc>
                <a:spcPts val="1350"/>
              </a:lnSpc>
              <a:spcAft>
                <a:spcPts val="800"/>
              </a:spcAft>
            </a:pP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Serial</a:t>
            </a:r>
            <a:r>
              <a:rPr lang="en-US" sz="1530" b="0" dirty="0" err="1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530" b="0" dirty="0" err="1">
                <a:solidFill>
                  <a:srgbClr val="D35400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530" b="0" dirty="0">
                <a:solidFill>
                  <a:srgbClr val="4E5B61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1530" b="0" dirty="0">
                <a:solidFill>
                  <a:srgbClr val="434F54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530" b="0" dirty="0">
              <a:solidFill>
                <a:srgbClr val="4E5B61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157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measuring a circuit board&#10;&#10;AI-generated content may be incorrect.">
            <a:extLst>
              <a:ext uri="{FF2B5EF4-FFF2-40B4-BE49-F238E27FC236}">
                <a16:creationId xmlns:a16="http://schemas.microsoft.com/office/drawing/2014/main" id="{FCF17472-956C-1576-D9D4-60E6E4BD24FB}"/>
              </a:ext>
            </a:extLst>
          </p:cNvPr>
          <p:cNvPicPr>
            <a:picLocks noChangeAspect="1"/>
          </p:cNvPicPr>
          <p:nvPr/>
        </p:nvPicPr>
        <p:blipFill>
          <a:blip/>
          <a:srcRect l="19210" r="12911"/>
          <a:stretch>
            <a:fillRect/>
          </a:stretch>
        </p:blipFill>
        <p:spPr>
          <a:xfrm rot="5400000">
            <a:off x="2835903" y="376771"/>
            <a:ext cx="5001989" cy="55267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9A3729-462B-FCA4-171F-8F9FCBADCDF0}"/>
              </a:ext>
            </a:extLst>
          </p:cNvPr>
          <p:cNvSpPr/>
          <p:nvPr/>
        </p:nvSpPr>
        <p:spPr>
          <a:xfrm>
            <a:off x="4119716" y="698148"/>
            <a:ext cx="1455174" cy="3687040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89B10-F1C4-468C-8911-842B94B70A92}"/>
              </a:ext>
            </a:extLst>
          </p:cNvPr>
          <p:cNvSpPr txBox="1"/>
          <p:nvPr/>
        </p:nvSpPr>
        <p:spPr>
          <a:xfrm>
            <a:off x="2857902" y="894736"/>
            <a:ext cx="1202067" cy="55399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1"/>
                </a:solidFill>
                <a:latin typeface="Trebuchet MS" panose="020B0703020202090204" pitchFamily="34" charset="0"/>
              </a:rPr>
              <a:t>Hardware Front-End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DB1EC0-1943-AF2E-02EA-1E22D9DB6478}"/>
              </a:ext>
            </a:extLst>
          </p:cNvPr>
          <p:cNvSpPr/>
          <p:nvPr/>
        </p:nvSpPr>
        <p:spPr>
          <a:xfrm>
            <a:off x="5634636" y="2453207"/>
            <a:ext cx="1846963" cy="1922149"/>
          </a:xfrm>
          <a:prstGeom prst="rect">
            <a:avLst/>
          </a:prstGeom>
          <a:noFill/>
          <a:ln w="508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ABDC1-DD8C-84C9-779A-7CCDCB9ECC1F}"/>
              </a:ext>
            </a:extLst>
          </p:cNvPr>
          <p:cNvSpPr txBox="1"/>
          <p:nvPr/>
        </p:nvSpPr>
        <p:spPr>
          <a:xfrm>
            <a:off x="5634636" y="2012055"/>
            <a:ext cx="1846963" cy="323165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MCU Acquisition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53B7BF-EB92-9549-699A-06195CF8F53A}"/>
              </a:ext>
            </a:extLst>
          </p:cNvPr>
          <p:cNvCxnSpPr/>
          <p:nvPr/>
        </p:nvCxnSpPr>
        <p:spPr>
          <a:xfrm>
            <a:off x="6213986" y="4493343"/>
            <a:ext cx="0" cy="10422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B4DE07A-FE2D-EBE6-C961-9FD3E7C85B6A}"/>
              </a:ext>
            </a:extLst>
          </p:cNvPr>
          <p:cNvSpPr txBox="1"/>
          <p:nvPr/>
        </p:nvSpPr>
        <p:spPr>
          <a:xfrm>
            <a:off x="6331976" y="4693094"/>
            <a:ext cx="1327352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Digitalized PPG Packets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20649E-A8DC-0CB5-150D-85269A2397C2}"/>
              </a:ext>
            </a:extLst>
          </p:cNvPr>
          <p:cNvCxnSpPr>
            <a:cxnSpLocks/>
          </p:cNvCxnSpPr>
          <p:nvPr/>
        </p:nvCxnSpPr>
        <p:spPr>
          <a:xfrm flipV="1">
            <a:off x="5963264" y="4493343"/>
            <a:ext cx="0" cy="104221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448E19-0257-32A0-57FB-000366BE616D}"/>
              </a:ext>
            </a:extLst>
          </p:cNvPr>
          <p:cNvSpPr txBox="1"/>
          <p:nvPr/>
        </p:nvSpPr>
        <p:spPr>
          <a:xfrm>
            <a:off x="4222006" y="4693094"/>
            <a:ext cx="1615897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LED Drive Command Packets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24FD16-AE6C-2537-7B9F-808F2AE747F5}"/>
              </a:ext>
            </a:extLst>
          </p:cNvPr>
          <p:cNvCxnSpPr>
            <a:cxnSpLocks/>
          </p:cNvCxnSpPr>
          <p:nvPr/>
        </p:nvCxnSpPr>
        <p:spPr>
          <a:xfrm>
            <a:off x="5249537" y="3192206"/>
            <a:ext cx="886168" cy="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BC9648E-1B98-8AE6-5582-B5E880BB7683}"/>
              </a:ext>
            </a:extLst>
          </p:cNvPr>
          <p:cNvSpPr txBox="1"/>
          <p:nvPr/>
        </p:nvSpPr>
        <p:spPr>
          <a:xfrm>
            <a:off x="5404542" y="3053707"/>
            <a:ext cx="446239" cy="246221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ADC</a:t>
            </a:r>
          </a:p>
        </p:txBody>
      </p:sp>
    </p:spTree>
    <p:extLst>
      <p:ext uri="{BB962C8B-B14F-4D97-AF65-F5344CB8AC3E}">
        <p14:creationId xmlns:p14="http://schemas.microsoft.com/office/powerpoint/2010/main" val="1931216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4EDBE-58A6-F6FC-CB1F-302C79535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measuring a circuit board&#10;&#10;AI-generated content may be incorrect.">
            <a:extLst>
              <a:ext uri="{FF2B5EF4-FFF2-40B4-BE49-F238E27FC236}">
                <a16:creationId xmlns:a16="http://schemas.microsoft.com/office/drawing/2014/main" id="{E3DA6A32-8B3D-AFD1-04FF-9FDDD18BE082}"/>
              </a:ext>
            </a:extLst>
          </p:cNvPr>
          <p:cNvPicPr>
            <a:picLocks noChangeAspect="1"/>
          </p:cNvPicPr>
          <p:nvPr/>
        </p:nvPicPr>
        <p:blipFill>
          <a:blip/>
          <a:srcRect l="19210" r="12911"/>
          <a:stretch>
            <a:fillRect/>
          </a:stretch>
        </p:blipFill>
        <p:spPr>
          <a:xfrm rot="5400000">
            <a:off x="2835903" y="376771"/>
            <a:ext cx="5001989" cy="55267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F58595-C814-F2B9-97FC-D582DBF8B3BA}"/>
              </a:ext>
            </a:extLst>
          </p:cNvPr>
          <p:cNvSpPr/>
          <p:nvPr/>
        </p:nvSpPr>
        <p:spPr>
          <a:xfrm>
            <a:off x="4119716" y="698148"/>
            <a:ext cx="1455174" cy="3687040"/>
          </a:xfrm>
          <a:prstGeom prst="rect">
            <a:avLst/>
          </a:prstGeom>
          <a:noFill/>
          <a:ln w="508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26BEC-38C6-36EA-D563-936FA02EC14B}"/>
              </a:ext>
            </a:extLst>
          </p:cNvPr>
          <p:cNvSpPr txBox="1"/>
          <p:nvPr/>
        </p:nvSpPr>
        <p:spPr>
          <a:xfrm>
            <a:off x="2857902" y="894736"/>
            <a:ext cx="1202067" cy="553998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Hardware Front-End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026A2F-13CD-6433-CA5E-FEFA0F39CE69}"/>
              </a:ext>
            </a:extLst>
          </p:cNvPr>
          <p:cNvSpPr/>
          <p:nvPr/>
        </p:nvSpPr>
        <p:spPr>
          <a:xfrm>
            <a:off x="5634636" y="2453207"/>
            <a:ext cx="1846963" cy="1922149"/>
          </a:xfrm>
          <a:prstGeom prst="rect">
            <a:avLst/>
          </a:prstGeom>
          <a:noFill/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8AC6A-852C-FDF2-6DBF-E6BCD24487DA}"/>
              </a:ext>
            </a:extLst>
          </p:cNvPr>
          <p:cNvSpPr txBox="1"/>
          <p:nvPr/>
        </p:nvSpPr>
        <p:spPr>
          <a:xfrm>
            <a:off x="5634636" y="2012055"/>
            <a:ext cx="1846963" cy="3231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5"/>
                </a:solidFill>
                <a:latin typeface="Trebuchet MS" panose="020B0703020202090204" pitchFamily="34" charset="0"/>
              </a:rPr>
              <a:t>MCU Acquisition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BEBB6C-DB40-39B7-C94E-7FD2DDD9DB54}"/>
              </a:ext>
            </a:extLst>
          </p:cNvPr>
          <p:cNvCxnSpPr/>
          <p:nvPr/>
        </p:nvCxnSpPr>
        <p:spPr>
          <a:xfrm>
            <a:off x="6213986" y="4493343"/>
            <a:ext cx="0" cy="10422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343C89-DE9C-5D8B-94F7-D66F5FBEFBE5}"/>
              </a:ext>
            </a:extLst>
          </p:cNvPr>
          <p:cNvSpPr txBox="1"/>
          <p:nvPr/>
        </p:nvSpPr>
        <p:spPr>
          <a:xfrm>
            <a:off x="6331976" y="4693094"/>
            <a:ext cx="1327352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Trebuchet MS" panose="020B0703020202090204" pitchFamily="34" charset="0"/>
              </a:rPr>
              <a:t>Digitalized PPG Packets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40F9FC-A261-2347-B378-11B846C76186}"/>
              </a:ext>
            </a:extLst>
          </p:cNvPr>
          <p:cNvCxnSpPr>
            <a:cxnSpLocks/>
          </p:cNvCxnSpPr>
          <p:nvPr/>
        </p:nvCxnSpPr>
        <p:spPr>
          <a:xfrm flipV="1">
            <a:off x="5963264" y="4493343"/>
            <a:ext cx="0" cy="104221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21C2C98-3257-5E71-21AF-3A72652A16DE}"/>
              </a:ext>
            </a:extLst>
          </p:cNvPr>
          <p:cNvSpPr txBox="1"/>
          <p:nvPr/>
        </p:nvSpPr>
        <p:spPr>
          <a:xfrm>
            <a:off x="4222006" y="4693094"/>
            <a:ext cx="1615897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50"/>
                </a:solidFill>
                <a:latin typeface="Trebuchet MS" panose="020B0703020202090204" pitchFamily="34" charset="0"/>
              </a:rPr>
              <a:t>LED Drive Command Packets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22242F-B8F3-4FCD-4CC0-27FACF8410A8}"/>
              </a:ext>
            </a:extLst>
          </p:cNvPr>
          <p:cNvCxnSpPr>
            <a:cxnSpLocks/>
          </p:cNvCxnSpPr>
          <p:nvPr/>
        </p:nvCxnSpPr>
        <p:spPr>
          <a:xfrm>
            <a:off x="5249537" y="3192206"/>
            <a:ext cx="886168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67C3442-A956-151A-032F-E4FB1F546145}"/>
              </a:ext>
            </a:extLst>
          </p:cNvPr>
          <p:cNvSpPr txBox="1"/>
          <p:nvPr/>
        </p:nvSpPr>
        <p:spPr>
          <a:xfrm>
            <a:off x="5404542" y="3053707"/>
            <a:ext cx="446239" cy="24622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accent5"/>
                </a:solidFill>
                <a:latin typeface="Trebuchet MS" panose="020B0703020202090204" pitchFamily="34" charset="0"/>
              </a:rPr>
              <a:t>ADC</a:t>
            </a:r>
          </a:p>
        </p:txBody>
      </p:sp>
    </p:spTree>
    <p:extLst>
      <p:ext uri="{BB962C8B-B14F-4D97-AF65-F5344CB8AC3E}">
        <p14:creationId xmlns:p14="http://schemas.microsoft.com/office/powerpoint/2010/main" val="1049583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AC5B-C7FC-1FCE-7BEC-847FA2DE2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measuring a circuit board&#10;&#10;AI-generated content may be incorrect.">
            <a:extLst>
              <a:ext uri="{FF2B5EF4-FFF2-40B4-BE49-F238E27FC236}">
                <a16:creationId xmlns:a16="http://schemas.microsoft.com/office/drawing/2014/main" id="{F3E18CE7-D0C4-FF89-114E-C5A1AE8A8820}"/>
              </a:ext>
            </a:extLst>
          </p:cNvPr>
          <p:cNvPicPr>
            <a:picLocks noChangeAspect="1"/>
          </p:cNvPicPr>
          <p:nvPr/>
        </p:nvPicPr>
        <p:blipFill>
          <a:blip/>
          <a:srcRect l="19210" r="12911"/>
          <a:stretch>
            <a:fillRect/>
          </a:stretch>
        </p:blipFill>
        <p:spPr>
          <a:xfrm rot="5400000">
            <a:off x="2835903" y="376771"/>
            <a:ext cx="5001989" cy="55267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A01864-B829-AA9B-3602-1A7FB12B9928}"/>
              </a:ext>
            </a:extLst>
          </p:cNvPr>
          <p:cNvSpPr/>
          <p:nvPr/>
        </p:nvSpPr>
        <p:spPr>
          <a:xfrm>
            <a:off x="4119716" y="698148"/>
            <a:ext cx="1455174" cy="3687040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500F1-D13A-119C-38C1-545BC871D997}"/>
              </a:ext>
            </a:extLst>
          </p:cNvPr>
          <p:cNvSpPr txBox="1"/>
          <p:nvPr/>
        </p:nvSpPr>
        <p:spPr>
          <a:xfrm>
            <a:off x="2857902" y="894736"/>
            <a:ext cx="1202067" cy="55399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1"/>
                </a:solidFill>
                <a:latin typeface="Trebuchet MS" panose="020B0703020202090204" pitchFamily="34" charset="0"/>
              </a:rPr>
              <a:t>Hardware Front-End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60B412-38B2-8C54-5272-22E6A606D98D}"/>
              </a:ext>
            </a:extLst>
          </p:cNvPr>
          <p:cNvSpPr/>
          <p:nvPr/>
        </p:nvSpPr>
        <p:spPr>
          <a:xfrm>
            <a:off x="5634636" y="2453207"/>
            <a:ext cx="1846963" cy="1922149"/>
          </a:xfrm>
          <a:prstGeom prst="rect">
            <a:avLst/>
          </a:prstGeom>
          <a:noFill/>
          <a:ln w="508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03E31-2080-8E13-7C63-3D0E62FF282B}"/>
              </a:ext>
            </a:extLst>
          </p:cNvPr>
          <p:cNvSpPr txBox="1"/>
          <p:nvPr/>
        </p:nvSpPr>
        <p:spPr>
          <a:xfrm>
            <a:off x="5634636" y="2012055"/>
            <a:ext cx="1846963" cy="3231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5"/>
                </a:solidFill>
                <a:latin typeface="Trebuchet MS" panose="020B0703020202090204" pitchFamily="34" charset="0"/>
              </a:rPr>
              <a:t>MCU Acquisition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B19B6F-84BF-1EE5-FB62-130B9AFDA70C}"/>
              </a:ext>
            </a:extLst>
          </p:cNvPr>
          <p:cNvCxnSpPr/>
          <p:nvPr/>
        </p:nvCxnSpPr>
        <p:spPr>
          <a:xfrm>
            <a:off x="6213986" y="4493343"/>
            <a:ext cx="0" cy="10422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791479-C219-6D95-9B5E-D815C5F6C0DB}"/>
              </a:ext>
            </a:extLst>
          </p:cNvPr>
          <p:cNvSpPr txBox="1"/>
          <p:nvPr/>
        </p:nvSpPr>
        <p:spPr>
          <a:xfrm>
            <a:off x="6331976" y="4693094"/>
            <a:ext cx="1327352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FF0000"/>
                </a:solidFill>
                <a:latin typeface="Trebuchet MS" panose="020B0703020202090204" pitchFamily="34" charset="0"/>
              </a:rPr>
              <a:t>Digitalized PPG Packets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7DF8CB-C51B-0801-06EE-3609D4BEDE8A}"/>
              </a:ext>
            </a:extLst>
          </p:cNvPr>
          <p:cNvCxnSpPr>
            <a:cxnSpLocks/>
          </p:cNvCxnSpPr>
          <p:nvPr/>
        </p:nvCxnSpPr>
        <p:spPr>
          <a:xfrm flipV="1">
            <a:off x="5963264" y="4493343"/>
            <a:ext cx="0" cy="104221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B63AE9D-1661-E35B-AC4B-94444DC7F90A}"/>
              </a:ext>
            </a:extLst>
          </p:cNvPr>
          <p:cNvSpPr txBox="1"/>
          <p:nvPr/>
        </p:nvSpPr>
        <p:spPr>
          <a:xfrm>
            <a:off x="4222006" y="4693094"/>
            <a:ext cx="1615897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00B050"/>
                </a:solidFill>
                <a:latin typeface="Trebuchet MS" panose="020B0703020202090204" pitchFamily="34" charset="0"/>
              </a:rPr>
              <a:t>LED Drive Command Packets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3F2CCD5-E2B4-F9A9-0727-7462F5242A4F}"/>
              </a:ext>
            </a:extLst>
          </p:cNvPr>
          <p:cNvCxnSpPr>
            <a:cxnSpLocks/>
          </p:cNvCxnSpPr>
          <p:nvPr/>
        </p:nvCxnSpPr>
        <p:spPr>
          <a:xfrm>
            <a:off x="5249537" y="3192206"/>
            <a:ext cx="886168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31C13B-00B8-16B2-C949-B104D697CFC0}"/>
              </a:ext>
            </a:extLst>
          </p:cNvPr>
          <p:cNvSpPr txBox="1"/>
          <p:nvPr/>
        </p:nvSpPr>
        <p:spPr>
          <a:xfrm>
            <a:off x="5404542" y="3053707"/>
            <a:ext cx="446239" cy="24622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accent5"/>
                </a:solidFill>
                <a:latin typeface="Trebuchet MS" panose="020B0703020202090204" pitchFamily="34" charset="0"/>
              </a:rPr>
              <a:t>ADC</a:t>
            </a:r>
          </a:p>
        </p:txBody>
      </p:sp>
    </p:spTree>
    <p:extLst>
      <p:ext uri="{BB962C8B-B14F-4D97-AF65-F5344CB8AC3E}">
        <p14:creationId xmlns:p14="http://schemas.microsoft.com/office/powerpoint/2010/main" val="4139025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48BA57-EDDD-158E-4EFF-198473F1ECA3}"/>
              </a:ext>
            </a:extLst>
          </p:cNvPr>
          <p:cNvSpPr>
            <a:spLocks noChangeAspect="1"/>
          </p:cNvSpPr>
          <p:nvPr/>
        </p:nvSpPr>
        <p:spPr>
          <a:xfrm>
            <a:off x="441492" y="812800"/>
            <a:ext cx="11309016" cy="53594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F2AE3C8-08B2-D2E4-0211-15E1CA1B2CD2}"/>
                  </a:ext>
                </a:extLst>
              </p:cNvPr>
              <p:cNvSpPr/>
              <p:nvPr/>
            </p:nvSpPr>
            <p:spPr>
              <a:xfrm>
                <a:off x="2017770" y="2586072"/>
                <a:ext cx="1918277" cy="7204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604020202020204" pitchFamily="34" charset="0"/>
                    <a:cs typeface="Arial Black" panose="020B0604020202020204" pitchFamily="34" charset="0"/>
                  </a:rPr>
                  <a:t>Butterworth LPF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  <m:t>𝒇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rial Black" panose="020B0604020202020204" pitchFamily="34" charset="0"/>
                            </a:rPr>
                            <m:t>𝒄</m:t>
                          </m:r>
                        </m:sub>
                      </m:sSub>
                      <m:r>
                        <a:rPr lang="en-US" sz="1600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 Black" panose="020B0604020202020204" pitchFamily="34" charset="0"/>
                        </a:rPr>
                        <m:t>=</m:t>
                      </m:r>
                      <m:r>
                        <a:rPr lang="en-US" sz="1600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 Black" panose="020B0604020202020204" pitchFamily="34" charset="0"/>
                        </a:rPr>
                        <m:t>𝟒</m:t>
                      </m:r>
                      <m:r>
                        <a:rPr lang="en-US" sz="1600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 Black" panose="020B0604020202020204" pitchFamily="34" charset="0"/>
                        </a:rPr>
                        <m:t> </m:t>
                      </m:r>
                      <m:r>
                        <a:rPr lang="en-US" sz="1600" b="1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cs typeface="Arial Black" panose="020B0604020202020204" pitchFamily="34" charset="0"/>
                        </a:rPr>
                        <m:t>𝐇𝐳</m:t>
                      </m:r>
                    </m:oMath>
                  </m:oMathPara>
                </a14:m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F2AE3C8-08B2-D2E4-0211-15E1CA1B2C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70" y="2586072"/>
                <a:ext cx="1918277" cy="720431"/>
              </a:xfrm>
              <a:prstGeom prst="rect">
                <a:avLst/>
              </a:prstGeom>
              <a:blipFill>
                <a:blip r:embed="rId2"/>
                <a:stretch>
                  <a:fillRect l="-649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F13D389-F27C-360B-BEA9-9359563C8BAD}"/>
                  </a:ext>
                </a:extLst>
              </p:cNvPr>
              <p:cNvSpPr/>
              <p:nvPr/>
            </p:nvSpPr>
            <p:spPr>
              <a:xfrm>
                <a:off x="5686566" y="3836768"/>
                <a:ext cx="2046855" cy="70913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Black" panose="020B0604020202020204" pitchFamily="34" charset="0"/>
                    <a:cs typeface="Arial Black" panose="020B0604020202020204" pitchFamily="34" charset="0"/>
                  </a:rPr>
                  <a:t>Butterworth LPF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𝒇</m:t>
                        </m:r>
                      </m:e>
                      <m:sub>
                        <m:r>
                          <a:rPr lang="en-US" sz="16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 Black" panose="020B0604020202020204" pitchFamily="34" charset="0"/>
                          </a:rPr>
                          <m:t>𝒄</m:t>
                        </m:r>
                      </m:sub>
                    </m:sSub>
                    <m:r>
                      <a:rPr lang="en-US" sz="16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cs typeface="Arial Black" panose="020B0604020202020204" pitchFamily="34" charset="0"/>
                      </a:rPr>
                      <m:t> </m:t>
                    </m:r>
                  </m:oMath>
                </a14:m>
                <a:r>
                  <a:rPr 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pitchFamily="18" charset="0"/>
                    <a:cs typeface="Arial" panose="020B0604020202020204" pitchFamily="34" charset="0"/>
                  </a:rPr>
                  <a:t>0.5 Hz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F13D389-F27C-360B-BEA9-9359563C8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566" y="3836768"/>
                <a:ext cx="2046855" cy="709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5CFD6C-4A42-9B86-8CB1-C3FA97DE9794}"/>
              </a:ext>
            </a:extLst>
          </p:cNvPr>
          <p:cNvCxnSpPr>
            <a:cxnSpLocks/>
          </p:cNvCxnSpPr>
          <p:nvPr/>
        </p:nvCxnSpPr>
        <p:spPr>
          <a:xfrm>
            <a:off x="823761" y="2935410"/>
            <a:ext cx="119400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E545883-EAB0-D1EA-5788-D015DD046D75}"/>
              </a:ext>
            </a:extLst>
          </p:cNvPr>
          <p:cNvSpPr txBox="1"/>
          <p:nvPr/>
        </p:nvSpPr>
        <p:spPr>
          <a:xfrm>
            <a:off x="773995" y="2331262"/>
            <a:ext cx="11940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Digitalized PPG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FD41AF-053D-0E4C-3230-351DD94AB0A7}"/>
              </a:ext>
            </a:extLst>
          </p:cNvPr>
          <p:cNvCxnSpPr>
            <a:cxnSpLocks/>
          </p:cNvCxnSpPr>
          <p:nvPr/>
        </p:nvCxnSpPr>
        <p:spPr>
          <a:xfrm>
            <a:off x="9893563" y="2946288"/>
            <a:ext cx="1525125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E55BEA4B-0E23-2C2B-70D4-B70526E19B90}"/>
              </a:ext>
            </a:extLst>
          </p:cNvPr>
          <p:cNvSpPr/>
          <p:nvPr/>
        </p:nvSpPr>
        <p:spPr>
          <a:xfrm>
            <a:off x="8211123" y="3836768"/>
            <a:ext cx="1053250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Median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84C270-03FF-00D8-E393-30B81D13C317}"/>
              </a:ext>
            </a:extLst>
          </p:cNvPr>
          <p:cNvSpPr/>
          <p:nvPr/>
        </p:nvSpPr>
        <p:spPr>
          <a:xfrm>
            <a:off x="5686566" y="1396753"/>
            <a:ext cx="2046855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Peak-Trough Detection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54DD15-FE9D-4ECD-3761-513521E72200}"/>
              </a:ext>
            </a:extLst>
          </p:cNvPr>
          <p:cNvSpPr/>
          <p:nvPr/>
        </p:nvSpPr>
        <p:spPr>
          <a:xfrm>
            <a:off x="8211123" y="1396753"/>
            <a:ext cx="1053250" cy="709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Max</a:t>
            </a:r>
            <a:endParaRPr 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BB48C5-6A40-8372-2F66-401AA894C36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936047" y="2946288"/>
            <a:ext cx="134955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61A9DB-F561-F7BB-D893-2AAB405BE6A9}"/>
              </a:ext>
            </a:extLst>
          </p:cNvPr>
          <p:cNvCxnSpPr>
            <a:cxnSpLocks/>
          </p:cNvCxnSpPr>
          <p:nvPr/>
        </p:nvCxnSpPr>
        <p:spPr>
          <a:xfrm>
            <a:off x="5269573" y="1750679"/>
            <a:ext cx="0" cy="246195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9507058-32BB-580D-1A9F-789BA022EB67}"/>
              </a:ext>
            </a:extLst>
          </p:cNvPr>
          <p:cNvCxnSpPr>
            <a:cxnSpLocks/>
          </p:cNvCxnSpPr>
          <p:nvPr/>
        </p:nvCxnSpPr>
        <p:spPr>
          <a:xfrm>
            <a:off x="5243803" y="1750679"/>
            <a:ext cx="43667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E11107-9D9B-DEA0-061A-F22D733C6598}"/>
              </a:ext>
            </a:extLst>
          </p:cNvPr>
          <p:cNvCxnSpPr>
            <a:cxnSpLocks/>
          </p:cNvCxnSpPr>
          <p:nvPr/>
        </p:nvCxnSpPr>
        <p:spPr>
          <a:xfrm>
            <a:off x="5243803" y="4185459"/>
            <a:ext cx="43667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48FC46-77AE-14DA-F06C-020497170DBE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7733421" y="1750679"/>
            <a:ext cx="477702" cy="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67B1579-98BD-CA76-0D50-7C6EBF891054}"/>
              </a:ext>
            </a:extLst>
          </p:cNvPr>
          <p:cNvCxnSpPr>
            <a:cxnSpLocks/>
          </p:cNvCxnSpPr>
          <p:nvPr/>
        </p:nvCxnSpPr>
        <p:spPr>
          <a:xfrm>
            <a:off x="7733421" y="4246188"/>
            <a:ext cx="477702" cy="64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7FE3517-B5C9-817E-ABA8-5F5E6696902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9264373" y="1750679"/>
            <a:ext cx="406824" cy="643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C2FA23C-7234-0034-A253-565F52C24191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9643731" y="1750679"/>
            <a:ext cx="1" cy="93583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DED99AA-DFF7-A494-441E-41C1D4BDECF0}"/>
              </a:ext>
            </a:extLst>
          </p:cNvPr>
          <p:cNvGrpSpPr/>
          <p:nvPr/>
        </p:nvGrpSpPr>
        <p:grpSpPr>
          <a:xfrm>
            <a:off x="9393900" y="2686517"/>
            <a:ext cx="499663" cy="499663"/>
            <a:chOff x="8672439" y="2204728"/>
            <a:chExt cx="499663" cy="499663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3EC58B3-F208-FD4D-D15C-47C720665165}"/>
                </a:ext>
              </a:extLst>
            </p:cNvPr>
            <p:cNvSpPr/>
            <p:nvPr/>
          </p:nvSpPr>
          <p:spPr>
            <a:xfrm>
              <a:off x="8672439" y="2204728"/>
              <a:ext cx="499663" cy="4996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05A8A58-C705-3EF7-6820-B37D65888B3A}"/>
                    </a:ext>
                  </a:extLst>
                </p:cNvPr>
                <p:cNvSpPr txBox="1"/>
                <p:nvPr/>
              </p:nvSpPr>
              <p:spPr>
                <a:xfrm>
                  <a:off x="8672440" y="2232561"/>
                  <a:ext cx="49966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÷</m:t>
                        </m:r>
                      </m:oMath>
                    </m:oMathPara>
                  </a14:m>
                  <a:endParaRPr lang="en-US" sz="2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05A8A58-C705-3EF7-6820-B37D65888B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440" y="2232561"/>
                  <a:ext cx="499662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0547E12-7809-551C-52EE-CB997A956BB3}"/>
              </a:ext>
            </a:extLst>
          </p:cNvPr>
          <p:cNvCxnSpPr>
            <a:cxnSpLocks/>
          </p:cNvCxnSpPr>
          <p:nvPr/>
        </p:nvCxnSpPr>
        <p:spPr>
          <a:xfrm>
            <a:off x="9264372" y="4212631"/>
            <a:ext cx="406824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29BA3F-760E-DCDF-FEEF-194DA3B81B7B}"/>
              </a:ext>
            </a:extLst>
          </p:cNvPr>
          <p:cNvCxnSpPr>
            <a:cxnSpLocks/>
            <a:endCxn id="64" idx="4"/>
          </p:cNvCxnSpPr>
          <p:nvPr/>
        </p:nvCxnSpPr>
        <p:spPr>
          <a:xfrm flipV="1">
            <a:off x="9643731" y="3186180"/>
            <a:ext cx="1" cy="106000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7CB07B5-31E2-6D9D-45F8-AE5C3904CCBA}"/>
              </a:ext>
            </a:extLst>
          </p:cNvPr>
          <p:cNvSpPr txBox="1"/>
          <p:nvPr/>
        </p:nvSpPr>
        <p:spPr>
          <a:xfrm>
            <a:off x="9931605" y="2586072"/>
            <a:ext cx="1341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AC/DC ratio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60F976-FE49-A867-F36C-D8758572106C}"/>
              </a:ext>
            </a:extLst>
          </p:cNvPr>
          <p:cNvSpPr txBox="1"/>
          <p:nvPr/>
        </p:nvSpPr>
        <p:spPr>
          <a:xfrm>
            <a:off x="5680477" y="1039403"/>
            <a:ext cx="3583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Pulsatile (AC) Component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BEA65C-A0EA-09A9-0CCD-D0895542113F}"/>
              </a:ext>
            </a:extLst>
          </p:cNvPr>
          <p:cNvSpPr txBox="1"/>
          <p:nvPr/>
        </p:nvSpPr>
        <p:spPr>
          <a:xfrm>
            <a:off x="5680471" y="3483334"/>
            <a:ext cx="3583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rebuchet MS" panose="020B0703020202090204" pitchFamily="34" charset="0"/>
              </a:rPr>
              <a:t>Constant</a:t>
            </a:r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 (DC) Component</a:t>
            </a:r>
          </a:p>
        </p:txBody>
      </p:sp>
      <p:pic>
        <p:nvPicPr>
          <p:cNvPr id="87" name="Picture 8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E36BA8-FEE8-BA09-7251-1FF6A433F408}"/>
              </a:ext>
            </a:extLst>
          </p:cNvPr>
          <p:cNvPicPr>
            <a:picLocks noChangeAspect="1"/>
          </p:cNvPicPr>
          <p:nvPr/>
        </p:nvPicPr>
        <p:blipFill>
          <a:blip/>
          <a:srcRect l="67671" t="20041" r="21072" b="67816"/>
          <a:stretch>
            <a:fillRect/>
          </a:stretch>
        </p:blipFill>
        <p:spPr>
          <a:xfrm>
            <a:off x="794722" y="3186671"/>
            <a:ext cx="1143231" cy="858556"/>
          </a:xfrm>
          <a:prstGeom prst="rect">
            <a:avLst/>
          </a:prstGeom>
        </p:spPr>
      </p:pic>
      <p:pic>
        <p:nvPicPr>
          <p:cNvPr id="91" name="Picture 90" descr="A graph with a red line&#10;&#10;AI-generated content may be incorrect.">
            <a:extLst>
              <a:ext uri="{FF2B5EF4-FFF2-40B4-BE49-F238E27FC236}">
                <a16:creationId xmlns:a16="http://schemas.microsoft.com/office/drawing/2014/main" id="{8FED5605-11E9-F5C5-46A9-85E971277B61}"/>
              </a:ext>
            </a:extLst>
          </p:cNvPr>
          <p:cNvPicPr>
            <a:picLocks noChangeAspect="1"/>
          </p:cNvPicPr>
          <p:nvPr/>
        </p:nvPicPr>
        <p:blipFill>
          <a:blip/>
          <a:srcRect l="16732" t="5048" r="34254" b="16644"/>
          <a:stretch>
            <a:fillRect/>
          </a:stretch>
        </p:blipFill>
        <p:spPr>
          <a:xfrm>
            <a:off x="3998170" y="3173823"/>
            <a:ext cx="1143233" cy="874622"/>
          </a:xfrm>
          <a:prstGeom prst="rect">
            <a:avLst/>
          </a:prstGeom>
        </p:spPr>
      </p:pic>
      <p:pic>
        <p:nvPicPr>
          <p:cNvPr id="94" name="Picture 9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05964B-4367-7A84-442A-65AE272EEA1F}"/>
              </a:ext>
            </a:extLst>
          </p:cNvPr>
          <p:cNvPicPr>
            <a:picLocks noChangeAspect="1"/>
          </p:cNvPicPr>
          <p:nvPr/>
        </p:nvPicPr>
        <p:blipFill>
          <a:blip/>
          <a:srcRect l="22952" t="57777" r="44941" b="26439"/>
          <a:stretch>
            <a:fillRect/>
          </a:stretch>
        </p:blipFill>
        <p:spPr>
          <a:xfrm>
            <a:off x="5680471" y="4619489"/>
            <a:ext cx="3589345" cy="1139837"/>
          </a:xfrm>
          <a:prstGeom prst="rect">
            <a:avLst/>
          </a:prstGeom>
        </p:spPr>
      </p:pic>
      <p:pic>
        <p:nvPicPr>
          <p:cNvPr id="96" name="Picture 9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042F61-1777-509A-31DF-B74E65AAF79D}"/>
              </a:ext>
            </a:extLst>
          </p:cNvPr>
          <p:cNvPicPr>
            <a:picLocks noChangeAspect="1"/>
          </p:cNvPicPr>
          <p:nvPr/>
        </p:nvPicPr>
        <p:blipFill>
          <a:blip/>
          <a:srcRect l="22655" t="74678" r="44545" b="11198"/>
          <a:stretch>
            <a:fillRect/>
          </a:stretch>
        </p:blipFill>
        <p:spPr>
          <a:xfrm>
            <a:off x="5690519" y="2152787"/>
            <a:ext cx="3583895" cy="996892"/>
          </a:xfrm>
          <a:prstGeom prst="rect">
            <a:avLst/>
          </a:prstGeom>
        </p:spPr>
      </p:pic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F6E4524-14D7-854A-1BF5-B8DE07DE66EF}"/>
              </a:ext>
            </a:extLst>
          </p:cNvPr>
          <p:cNvCxnSpPr>
            <a:cxnSpLocks/>
          </p:cNvCxnSpPr>
          <p:nvPr/>
        </p:nvCxnSpPr>
        <p:spPr>
          <a:xfrm>
            <a:off x="7491657" y="2404143"/>
            <a:ext cx="0" cy="514951"/>
          </a:xfrm>
          <a:prstGeom prst="straightConnector1">
            <a:avLst/>
          </a:prstGeom>
          <a:ln>
            <a:solidFill>
              <a:srgbClr val="28FF4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9F1EAF8-A7CF-0F7F-D900-18BDFCD66738}"/>
              </a:ext>
            </a:extLst>
          </p:cNvPr>
          <p:cNvCxnSpPr>
            <a:cxnSpLocks/>
          </p:cNvCxnSpPr>
          <p:nvPr/>
        </p:nvCxnSpPr>
        <p:spPr>
          <a:xfrm>
            <a:off x="7463371" y="2404148"/>
            <a:ext cx="56571" cy="0"/>
          </a:xfrm>
          <a:prstGeom prst="line">
            <a:avLst/>
          </a:prstGeom>
          <a:ln w="9525">
            <a:solidFill>
              <a:srgbClr val="28FF4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35B871B-84A8-F739-14E5-A763CA34E060}"/>
              </a:ext>
            </a:extLst>
          </p:cNvPr>
          <p:cNvCxnSpPr>
            <a:cxnSpLocks/>
          </p:cNvCxnSpPr>
          <p:nvPr/>
        </p:nvCxnSpPr>
        <p:spPr>
          <a:xfrm>
            <a:off x="7463371" y="2919094"/>
            <a:ext cx="56571" cy="0"/>
          </a:xfrm>
          <a:prstGeom prst="line">
            <a:avLst/>
          </a:prstGeom>
          <a:ln w="9525">
            <a:solidFill>
              <a:srgbClr val="28FF4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3DA1C3C-9F41-F6F0-718E-C30927498257}"/>
              </a:ext>
            </a:extLst>
          </p:cNvPr>
          <p:cNvSpPr txBox="1"/>
          <p:nvPr/>
        </p:nvSpPr>
        <p:spPr>
          <a:xfrm>
            <a:off x="7475629" y="2368788"/>
            <a:ext cx="3275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28FF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8C43C45-9D74-4EE0-520A-A58ACD6DF147}"/>
              </a:ext>
            </a:extLst>
          </p:cNvPr>
          <p:cNvSpPr txBox="1"/>
          <p:nvPr/>
        </p:nvSpPr>
        <p:spPr>
          <a:xfrm>
            <a:off x="9643731" y="2054321"/>
            <a:ext cx="532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AC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F6EAE19-270F-9835-235F-1A89399A5700}"/>
              </a:ext>
            </a:extLst>
          </p:cNvPr>
          <p:cNvSpPr txBox="1"/>
          <p:nvPr/>
        </p:nvSpPr>
        <p:spPr>
          <a:xfrm>
            <a:off x="9654234" y="3498214"/>
            <a:ext cx="532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rebuchet MS" panose="020B0703020202090204" pitchFamily="34" charset="0"/>
              </a:rPr>
              <a:t>D</a:t>
            </a:r>
            <a:r>
              <a:rPr lang="en-US" sz="1600" dirty="0">
                <a:solidFill>
                  <a:schemeClr val="tx1"/>
                </a:solidFill>
                <a:latin typeface="Trebuchet MS" panose="020B0703020202090204" pitchFamily="34" charset="0"/>
              </a:rPr>
              <a:t>C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3847033-1ECE-4B75-DBD1-87DEDC358282}"/>
              </a:ext>
            </a:extLst>
          </p:cNvPr>
          <p:cNvSpPr txBox="1"/>
          <p:nvPr/>
        </p:nvSpPr>
        <p:spPr>
          <a:xfrm>
            <a:off x="3872706" y="2324619"/>
            <a:ext cx="14762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rebuchet MS" panose="020B0703020202090204" pitchFamily="34" charset="0"/>
              </a:rPr>
              <a:t>Digitally-filtered PPG</a:t>
            </a:r>
            <a:endParaRPr lang="en-US" sz="1600" dirty="0">
              <a:solidFill>
                <a:schemeClr val="tx1"/>
              </a:solidFill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4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4241</TotalTime>
  <Words>817</Words>
  <Application>Microsoft Macintosh PowerPoint</Application>
  <PresentationFormat>Widescreen</PresentationFormat>
  <Paragraphs>164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Aptos Display</vt:lpstr>
      <vt:lpstr>Arial</vt:lpstr>
      <vt:lpstr>Arial Black</vt:lpstr>
      <vt:lpstr>Cambria</vt:lpstr>
      <vt:lpstr>Cambria Math</vt:lpstr>
      <vt:lpstr>Menlo</vt:lpstr>
      <vt:lpstr>Trebuchet MS</vt:lpstr>
      <vt:lpstr>Office Theme</vt:lpstr>
      <vt:lpstr>PowerPoint Presentation</vt:lpstr>
      <vt:lpstr>Sections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Golden</dc:creator>
  <cp:lastModifiedBy>Jake Golden</cp:lastModifiedBy>
  <cp:revision>11</cp:revision>
  <dcterms:created xsi:type="dcterms:W3CDTF">2025-10-13T19:06:52Z</dcterms:created>
  <dcterms:modified xsi:type="dcterms:W3CDTF">2026-05-10T02:20:30Z</dcterms:modified>
</cp:coreProperties>
</file>